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6b34a5f16704193" /><Relationship Type="http://schemas.openxmlformats.org/officeDocument/2006/relationships/extended-properties" Target="/docProps/app.xml" Id="R341c758b0dd74206" /><Relationship Type="http://schemas.openxmlformats.org/officeDocument/2006/relationships/officeDocument" Target="/ppt/presentation.xml" Id="R3acf3adb44014447" /></Relationships>
</file>

<file path=ppt/presentation.xml><?xml version="1.0" encoding="utf-8"?>
<p:presentation xmlns:p="http://schemas.openxmlformats.org/presentationml/2006/main">
  <p:sldMasterIdLst>
    <p:sldMasterId xmlns:r="http://schemas.openxmlformats.org/officeDocument/2006/relationships" id="2147483648" r:id="R4e99619d1c34471b"/>
  </p:sldMasterIdLst>
  <p:notesMasterIdLst>
    <p:notesMasterId xmlns:r="http://schemas.openxmlformats.org/officeDocument/2006/relationships" r:id="R0b635d11613b4eea"/>
  </p:notesMasterIdLst>
  <p:sldIdLst>
    <p:sldId xmlns:r="http://schemas.openxmlformats.org/officeDocument/2006/relationships" id="256" r:id="R942602a0592944a5"/>
    <p:sldId xmlns:r="http://schemas.openxmlformats.org/officeDocument/2006/relationships" id="257" r:id="R4d143599ed69483a"/>
    <p:sldId xmlns:r="http://schemas.openxmlformats.org/officeDocument/2006/relationships" id="258" r:id="R781ea6e402774148"/>
    <p:sldId xmlns:r="http://schemas.openxmlformats.org/officeDocument/2006/relationships" id="259" r:id="R31afb200d9964da5"/>
    <p:sldId xmlns:r="http://schemas.openxmlformats.org/officeDocument/2006/relationships" id="260" r:id="R580b7460699e47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df9838299c42e1" /><Relationship Type="http://schemas.openxmlformats.org/officeDocument/2006/relationships/slideMaster" Target="/ppt/slideMasters/slideMaster1.xml" Id="R4e99619d1c34471b" /><Relationship Type="http://schemas.openxmlformats.org/officeDocument/2006/relationships/notesMaster" Target="/ppt/notesMasters/notesMaster1.xml" Id="R0b635d11613b4eea" /><Relationship Type="http://schemas.openxmlformats.org/officeDocument/2006/relationships/presProps" Target="/ppt/presProps.xml" Id="R7a39063c79d44e8e" /><Relationship Type="http://schemas.openxmlformats.org/officeDocument/2006/relationships/tableStyles" Target="/ppt/tableStyles.xml" Id="Rf3120262ade540c9" /><Relationship Type="http://schemas.openxmlformats.org/officeDocument/2006/relationships/slide" Target="/ppt/slides/slide1.xml" Id="R942602a0592944a5" /><Relationship Type="http://schemas.openxmlformats.org/officeDocument/2006/relationships/slide" Target="/ppt/slides/slide2.xml" Id="R4d143599ed69483a" /><Relationship Type="http://schemas.openxmlformats.org/officeDocument/2006/relationships/slide" Target="/ppt/slides/slide3.xml" Id="R781ea6e402774148" /><Relationship Type="http://schemas.openxmlformats.org/officeDocument/2006/relationships/slide" Target="/ppt/slides/slide4.xml" Id="R31afb200d9964da5" /><Relationship Type="http://schemas.openxmlformats.org/officeDocument/2006/relationships/slide" Target="/ppt/slides/slide5.xml" Id="R580b7460699e47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530208588446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3e88a1be4a4ac4" /><Relationship Type="http://schemas.openxmlformats.org/officeDocument/2006/relationships/notesMaster" Target="/ppt/notesMasters/notesMaster1.xml" Id="R98292e52827942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44eb7cf09f4080" /><Relationship Type="http://schemas.openxmlformats.org/officeDocument/2006/relationships/notesMaster" Target="/ppt/notesMasters/notesMaster1.xml" Id="Rdc40b08b56334d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6521b12b07424e" /><Relationship Type="http://schemas.openxmlformats.org/officeDocument/2006/relationships/notesMaster" Target="/ppt/notesMasters/notesMaster1.xml" Id="R95c2e04ce46943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07f6104a364d68" /><Relationship Type="http://schemas.openxmlformats.org/officeDocument/2006/relationships/notesMaster" Target="/ppt/notesMasters/notesMaster1.xml" Id="R817a8ca054be4e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b5d19440a54d25" /><Relationship Type="http://schemas.openxmlformats.org/officeDocument/2006/relationships/notesMaster" Target="/ppt/notesMasters/notesMaster1.xml" Id="R3ea12e2912504c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research team needs to choose which hybrids deserve another round of trials. The highest yield at one location is only part of that decision. FieldSignal compares the same 84 hybrids across five Nebraska and Iowa locations, using 2,131 labeled plots and satellite observations. We separate two questions: which hybrids performed consistently in the completed trials, and how well imagery can forecast their performance at a location the model has never seen. Today, our evidence covers 2022.</a:t>
            </a:r>
          </a:p>
          <a:p xmlns:a="http://schemas.openxmlformats.org/drawingml/2006/main">
            <a:r>
              <a:t/>
            </a:r>
          </a:p>
          <a:p xmlns:a="http://schemas.openxmlformats.org/drawingml/2006/main">
            <a:r>
              <a:t>Sources (not spoken): outputs/broad_performance/claims.json; supplied 2022/README.md</a:t>
            </a:r>
          </a:p>
          <a:p xmlns:a="http://schemas.openxmlformats.org/drawingml/2006/main">
            <a:r>
              <a:t>Evidence 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environment changes the yield picture dramatically. Balanced site means range from about 41 to 165 bushels per acre. We therefore avoid ranking hybrids using pooled plot averages. First, we average their replicates inside each treatment. Then we compare hybrids with peers in the same environment, average treatment percentiles within a site, and give each site equal weight. This prevents a favorable location or a frequently repeated control hybrid from dominating the shortlist. It describes relative trial performance, not a causal genetic effect.</a:t>
            </a:r>
          </a:p>
          <a:p xmlns:a="http://schemas.openxmlformats.org/drawingml/2006/main">
            <a:r>
              <a:t/>
            </a:r>
          </a:p>
          <a:p xmlns:a="http://schemas.openxmlformats.org/drawingml/2006/main">
            <a:r>
              <a:t>Sources (not spoken): outputs/broad_performance/site_yields.csv; observed_environment.csv; maize/insights.py::hybrid_tables</a:t>
            </a:r>
          </a:p>
          <a:p xmlns:a="http://schemas.openxmlformats.org/drawingml/2006/main">
            <a:r>
              <a:t>Evidence 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observed shortlist, not a model-generated claim. All five candidates are above the median at every site. HOEGEMEYER 8065RR leads with an average percentile of 93.4 and a weakest-site percentile of 84.3. The table makes the trade-off visible: a high average does not necessarily mean uniform performance. Our rule requires above-median results at at least four sites, then ranks by the equal-site average. We retain replicate counts because some treatment cells have only one plot. These candidates warrant further replicated trials, not a claim of proven adaptation across seasons.</a:t>
            </a:r>
          </a:p>
          <a:p xmlns:a="http://schemas.openxmlformats.org/drawingml/2006/main">
            <a:r>
              <a:t/>
            </a:r>
          </a:p>
          <a:p xmlns:a="http://schemas.openxmlformats.org/drawingml/2006/main">
            <a:r>
              <a:t>Sources (not spoken): outputs/broad_performance/observed_hybrids.csv; observed_site.csv. Crawfordsv. denotes Crawfordsville; Missouri V. denotes Missouri Valley.</a:t>
            </a:r>
          </a:p>
          <a:p xmlns:a="http://schemas.openxmlformats.org/drawingml/2006/main">
            <a:r>
              <a:t>Evidence 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Management responses also depend on the environment. We matched 84 hybrids at two nitrogen rates within each of four locations, giving 336 hybrid-site comparisons. The observed difference ranges from -23.6 bushels per acre at Ames to plus 29.2 at Scottsbluff. The equal-site mean is plus 8.0, but that single number hides the variation. Because treatments can occupy separate experiments, these are descriptive contrasts rather than fertilizer prescriptions. Missouri Valley has only one rate, and irrigation is site-associated, so neither supports an independent dose or irrigation effect.</a:t>
            </a:r>
          </a:p>
          <a:p xmlns:a="http://schemas.openxmlformats.org/drawingml/2006/main">
            <a:r>
              <a:t/>
            </a:r>
          </a:p>
          <a:p xmlns:a="http://schemas.openxmlformats.org/drawingml/2006/main">
            <a:r>
              <a:t>Sources (not spoken): outputs/broad_performance/nitrogen_pairs.csv; nitrogen_sites.csv; comparison is 150 minus 75 lb N/acre; 84 matched hybrids at each of four sites.</a:t>
            </a:r>
          </a:p>
          <a:p xmlns:a="http://schemas.openxmlformats.org/drawingml/2006/main">
            <a:r>
              <a:t>Evidence 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tested forecasting by withholding each location entirely. At day 90, the training-mean baseline has an error of 55.1 bushels per acre. CatBoost with imagery reaches 44.0, and our exploratory Ridge comparison reaches 39.4. Yield error alone is insufficient for hybrid selection. Ridge recovers 5.0 of the observed top ten hybrids per site on average, compared with 4.6 for CatBoost and about 1.2 expected at random. This is useful but imperfect evidence. Our proposal is to advance the observed shortlist into replicated trials and validate the frozen forecasting pipeline on 2023 before claiming cross-season reliability.</a:t>
            </a:r>
          </a:p>
          <a:p xmlns:a="http://schemas.openxmlformats.org/drawingml/2006/main">
            <a:r>
              <a:t/>
            </a:r>
          </a:p>
          <a:p xmlns:a="http://schemas.openxmlformats.org/drawingml/2006/main">
            <a:r>
              <a:t>Sources (not spoken): outputs/broad_performance/yield_metrics.csv; ranking_metrics.csv; ridge_fold_audit.json. Ridge alpha selected from 1,10,100 using inner site folds; additional comparisons are exploratory after initial 2022 inspection.</a:t>
            </a:r>
          </a:p>
          <a:p xmlns:a="http://schemas.openxmlformats.org/drawingml/2006/main">
            <a:r>
              <a:t>Evidence 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17e737bae143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3d506d70334756" /><Relationship Type="http://schemas.openxmlformats.org/officeDocument/2006/relationships/slideLayout" Target="/ppt/slideLayouts/slideLayout1.xml" Id="R6e6b9202c30a4a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6b9202c30a4a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eefafd0b294a15" /><Relationship Type="http://schemas.openxmlformats.org/officeDocument/2006/relationships/notesSlide" Target="/ppt/notesSlides/notesSlide1.xml" Id="Ra21d35af3e6045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8fccb69bf74aaa" /><Relationship Type="http://schemas.openxmlformats.org/officeDocument/2006/relationships/chart" Target="/ppt/slides/charts/chart1.xml" Id="R265a8b0eac0c4c29" /><Relationship Type="http://schemas.openxmlformats.org/officeDocument/2006/relationships/notesSlide" Target="/ppt/notesSlides/notesSlide2.xml" Id="R0d7dbfe9941f46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d18aaa65e84837" /><Relationship Type="http://schemas.openxmlformats.org/officeDocument/2006/relationships/notesSlide" Target="/ppt/notesSlides/notesSlide3.xml" Id="R3c48fb8348aa43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d3068e705a4910" /><Relationship Type="http://schemas.openxmlformats.org/officeDocument/2006/relationships/chart" Target="/ppt/slides/charts/chart2.xml" Id="R96fc8988066a4920" /><Relationship Type="http://schemas.openxmlformats.org/officeDocument/2006/relationships/notesSlide" Target="/ppt/notesSlides/notesSlide4.xml" Id="R70453007f2774b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195816b42e4cc7" /><Relationship Type="http://schemas.openxmlformats.org/officeDocument/2006/relationships/chart" Target="/ppt/slides/charts/chart3.xml" Id="Rabce72f85b62484e" /><Relationship Type="http://schemas.openxmlformats.org/officeDocument/2006/relationships/notesSlide" Target="/ppt/notesSlides/notesSlide5.xml" Id="R7a1993d1ef624f4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site mean</c:v>
          </c:tx>
          <c:spPr>
            <a:solidFill xmlns:a="http://schemas.openxmlformats.org/drawingml/2006/main">
              <a:srgbClr val="2C744B"/>
            </a:solidFill>
          </c:spPr>
          <c:cat>
            <c:strRef>
              <c:f>'Chart Data'!$A$2:$A$6</c:f>
              <c:strCache>
                <c:ptCount val="5"/>
                <c:pt idx="0">
                  <c:v>Lincoln</c:v>
                </c:pt>
                <c:pt idx="1">
                  <c:v>Ames</c:v>
                </c:pt>
                <c:pt idx="2">
                  <c:v>Scottsbluff</c:v>
                </c:pt>
                <c:pt idx="3">
                  <c:v>Missouri V.</c:v>
                </c:pt>
                <c:pt idx="4">
                  <c:v>Crawfordsville</c:v>
                </c:pt>
              </c:strCache>
            </c:strRef>
          </c:cat>
          <c:val>
            <c:numRef>
              <c:f>'Chart Data'!$B$2:$B$6</c:f>
              <c:numCache>
                <c:formatCode>0.0</c:formatCode>
                <c:ptCount val="5"/>
                <c:pt idx="0">
                  <c:v>40.7</c:v>
                </c:pt>
                <c:pt idx="1">
                  <c:v>130.1</c:v>
                </c:pt>
                <c:pt idx="2">
                  <c:v>141.5</c:v>
                </c:pt>
                <c:pt idx="3">
                  <c:v>152.9</c:v>
                </c:pt>
                <c:pt idx="4">
                  <c:v>164.9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0C6"/>
            </a:solidFill>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72768"/>
      </c:catAx>
      <c:valAx>
        <c:axId val="48672768"/>
        <c:scaling>
          <c:orientation val="minMax"/>
          <c:max val="180"/>
          <c:min val="0"/>
        </c:scaling>
        <c:delete val="0"/>
        <c:axPos val="l"/>
        <c:majorGridlines>
          <c:spPr>
            <a:ln xmlns:a="http://schemas.openxmlformats.org/drawingml/2006/main" w="9525">
              <a:solidFill>
                <a:srgbClr val="D9DDD4"/>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Grain yield (bu/ac)</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50112"/>
        <c:crossBetween val="between"/>
        <c:majorUnit val="60"/>
      </c:valAx>
      <c:spPr>
        <a:solidFill xmlns:a="http://schemas.openxmlformats.org/drawingml/2006/main">
          <a:srgbClr val="F5F3E9"/>
        </a:solidFill>
        <a:ln xmlns:a="http://schemas.openxmlformats.org/drawingml/2006/main" w="0">
          <a:noFill/>
        </a:ln>
      </c:spPr>
    </c:plotArea>
    <c:plotVisOnly val="1"/>
  </c:chart>
  <c:spPr>
    <a:solidFill xmlns:a="http://schemas.openxmlformats.org/drawingml/2006/main">
      <a:srgbClr val="F5F3E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yield difference</c:v>
          </c:tx>
          <c:spPr>
            <a:solidFill xmlns:a="http://schemas.openxmlformats.org/drawingml/2006/main">
              <a:srgbClr val="2C744B"/>
            </a:solidFill>
          </c:spPr>
          <c:invertIfNegative val="0"/>
          <c:dPt>
            <c:idx val="0"/>
            <c:invertIfNegative val="0"/>
            <c:spPr>
              <a:solidFill xmlns:a="http://schemas.openxmlformats.org/drawingml/2006/main">
                <a:srgbClr val="AD7440"/>
              </a:solidFill>
            </c:spPr>
          </c:dPt>
          <c:dPt>
            <c:idx val="1"/>
            <c:invertIfNegative val="0"/>
            <c:spPr>
              <a:solidFill xmlns:a="http://schemas.openxmlformats.org/drawingml/2006/main">
                <a:srgbClr val="2C744B"/>
              </a:solidFill>
            </c:spPr>
          </c:dPt>
          <c:dPt>
            <c:idx val="2"/>
            <c:invertIfNegative val="0"/>
            <c:spPr>
              <a:solidFill xmlns:a="http://schemas.openxmlformats.org/drawingml/2006/main">
                <a:srgbClr val="2C744B"/>
              </a:solidFill>
            </c:spPr>
          </c:dPt>
          <c:dPt>
            <c:idx val="3"/>
            <c:invertIfNegative val="0"/>
            <c:spPr>
              <a:solidFill xmlns:a="http://schemas.openxmlformats.org/drawingml/2006/main">
                <a:srgbClr val="2C744B"/>
              </a:solidFill>
            </c:spPr>
          </c:dPt>
          <c:cat>
            <c:strRef>
              <c:f>'Chart Data'!$A$2:$A$5</c:f>
              <c:strCache>
                <c:ptCount val="4"/>
                <c:pt idx="0">
                  <c:v>Ames</c:v>
                </c:pt>
                <c:pt idx="1">
                  <c:v>Lincoln</c:v>
                </c:pt>
                <c:pt idx="2">
                  <c:v>Crawfordsville</c:v>
                </c:pt>
                <c:pt idx="3">
                  <c:v>Scottsbluff</c:v>
                </c:pt>
              </c:strCache>
            </c:strRef>
          </c:cat>
          <c:val>
            <c:numRef>
              <c:f>'Chart Data'!$B$2:$B$5</c:f>
              <c:numCache>
                <c:formatCode>+0.0;-0.0;0.0</c:formatCode>
                <c:ptCount val="4"/>
                <c:pt idx="0">
                  <c:v>-23.6</c:v>
                </c:pt>
                <c:pt idx="1">
                  <c:v>10.9</c:v>
                </c:pt>
                <c:pt idx="2">
                  <c:v>15.4</c:v>
                </c:pt>
                <c:pt idx="3">
                  <c:v>29.2</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9D0C6"/>
            </a:solidFill>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72768"/>
      </c:catAx>
      <c:valAx>
        <c:axId val="48672768"/>
        <c:scaling>
          <c:orientation val="minMax"/>
          <c:max val="40"/>
          <c:min val="-30"/>
        </c:scaling>
        <c:delete val="0"/>
        <c:axPos val="l"/>
        <c:majorGridlines>
          <c:spPr>
            <a:ln xmlns:a="http://schemas.openxmlformats.org/drawingml/2006/main" w="9525">
              <a:solidFill>
                <a:srgbClr val="D9DDD4"/>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Yield difference (bu/ac)</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50112"/>
        <c:crossBetween val="between"/>
        <c:majorUnit val="10"/>
      </c:valAx>
      <c:spPr>
        <a:solidFill xmlns:a="http://schemas.openxmlformats.org/drawingml/2006/main">
          <a:srgbClr val="F5F3E9"/>
        </a:solidFill>
        <a:ln xmlns:a="http://schemas.openxmlformats.org/drawingml/2006/main" w="0">
          <a:noFill/>
        </a:ln>
      </c:spPr>
    </c:plotArea>
    <c:plotVisOnly val="1"/>
  </c:chart>
  <c:spPr>
    <a:solidFill xmlns:a="http://schemas.openxmlformats.org/drawingml/2006/main">
      <a:srgbClr val="F5F3E9"/>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MAE</c:v>
          </c:tx>
          <c:spPr>
            <a:solidFill xmlns:a="http://schemas.openxmlformats.org/drawingml/2006/main">
              <a:srgbClr val="2C744B"/>
            </a:solidFill>
          </c:spPr>
          <c:dPt>
            <c:idx val="0"/>
            <c:invertIfNegative val="0"/>
            <c:spPr>
              <a:solidFill xmlns:a="http://schemas.openxmlformats.org/drawingml/2006/main">
                <a:srgbClr val="92988F"/>
              </a:solidFill>
            </c:spPr>
          </c:dPt>
          <c:dPt>
            <c:idx val="1"/>
            <c:invertIfNegative val="0"/>
            <c:spPr>
              <a:solidFill xmlns:a="http://schemas.openxmlformats.org/drawingml/2006/main">
                <a:srgbClr val="B4BCAC"/>
              </a:solidFill>
            </c:spPr>
          </c:dPt>
          <c:dPt>
            <c:idx val="2"/>
            <c:invertIfNegative val="0"/>
            <c:spPr>
              <a:solidFill xmlns:a="http://schemas.openxmlformats.org/drawingml/2006/main">
                <a:srgbClr val="2C744B"/>
              </a:solidFill>
            </c:spPr>
          </c:dPt>
          <c:dPt>
            <c:idx val="3"/>
            <c:invertIfNegative val="0"/>
            <c:spPr>
              <a:solidFill xmlns:a="http://schemas.openxmlformats.org/drawingml/2006/main">
                <a:srgbClr val="B4BCAC"/>
              </a:solidFill>
            </c:spPr>
          </c:dPt>
          <c:dPt>
            <c:idx val="4"/>
            <c:invertIfNegative val="0"/>
            <c:spPr>
              <a:solidFill xmlns:a="http://schemas.openxmlformats.org/drawingml/2006/main">
                <a:srgbClr val="2C744B"/>
              </a:solidFill>
            </c:spPr>
          </c:dPt>
          <c:cat>
            <c:strRef>
              <c:f>'Chart Data'!$A$2:$A$6</c:f>
              <c:strCache>
                <c:ptCount val="5"/>
                <c:pt idx="0">
                  <c:v>Training mean</c:v>
                </c:pt>
                <c:pt idx="1">
                  <c:v>CatBoost agronomy</c:v>
                </c:pt>
                <c:pt idx="2">
                  <c:v>CatBoost combined</c:v>
                </c:pt>
                <c:pt idx="3">
                  <c:v>Ridge agronomy</c:v>
                </c:pt>
                <c:pt idx="4">
                  <c:v>Ridge combined</c:v>
                </c:pt>
              </c:strCache>
            </c:strRef>
          </c:cat>
          <c:val>
            <c:numRef>
              <c:f>'Chart Data'!$B$2:$B$6</c:f>
              <c:numCache>
                <c:formatCode>0.0</c:formatCode>
                <c:ptCount val="5"/>
                <c:pt idx="0">
                  <c:v>55.1</c:v>
                </c:pt>
                <c:pt idx="1">
                  <c:v>72.1</c:v>
                </c:pt>
                <c:pt idx="2">
                  <c:v>44</c:v>
                </c:pt>
                <c:pt idx="3">
                  <c:v>66</c:v>
                </c:pt>
                <c:pt idx="4">
                  <c:v>39.4</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9D0C6"/>
            </a:solidFill>
          </a:ln>
        </c:spPr>
        <c:txPr>
          <a:bodyPr xmlns:a="http://schemas.openxmlformats.org/drawingml/2006/main" anchorCtr="1"/>
          <a:lstStyle xmlns:a="http://schemas.openxmlformats.org/drawingml/2006/main"/>
          <a:p xmlns:a="http://schemas.openxmlformats.org/drawingml/2006/main">
            <a:pPr>
              <a:defRPr sz="1500">
                <a:solidFill>
                  <a:srgbClr val="173E2C"/>
                </a:solidFill>
                <a:latin typeface="Arial"/>
                <a:ea typeface="Arial"/>
                <a:cs typeface="Arial"/>
              </a:defRPr>
            </a:pPr>
          </a:p>
        </c:txPr>
        <c:crossAx val="48672768"/>
      </c:catAx>
      <c:valAx>
        <c:axId val="48672768"/>
        <c:scaling>
          <c:orientation val="minMax"/>
          <c:max val="80"/>
          <c:min val="0"/>
        </c:scaling>
        <c:delete val="0"/>
        <c:axPos val="b"/>
        <c:majorGridlines>
          <c:spPr>
            <a:ln xmlns:a="http://schemas.openxmlformats.org/drawingml/2006/main" w="9525">
              <a:solidFill>
                <a:srgbClr val="D9DDD4"/>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MAE (bu/ac), lower is better</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50112"/>
        <c:crossBetween val="between"/>
        <c:majorUnit val="20"/>
      </c:valAx>
      <c:spPr>
        <a:solidFill xmlns:a="http://schemas.openxmlformats.org/drawingml/2006/main">
          <a:srgbClr val="F5F3E9"/>
        </a:solidFill>
        <a:ln xmlns:a="http://schemas.openxmlformats.org/drawingml/2006/main" w="0">
          <a:noFill/>
        </a:ln>
      </c:spPr>
    </c:plotArea>
    <c:plotVisOnly val="1"/>
  </c:chart>
  <c:spPr>
    <a:solidFill xmlns:a="http://schemas.openxmlformats.org/drawingml/2006/main">
      <a:srgbClr val="F5F3E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E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56A95A-AB37-4CD6-A8DD-A33634395E97}"/>
              </a:ext>
            </a:extLst>
          </p:cNvPr>
          <p:cNvSpPr>
            <a:spLocks xmlns:a="http://schemas.openxmlformats.org/drawingml/2006/main" noGrp="1"/>
          </p:cNvSpPr>
          <p:nvPr/>
        </p:nvSpPr>
        <p:spPr>
          <a:xfrm xmlns:a="http://schemas.openxmlformats.org/drawingml/2006/main">
            <a:off x="609600" y="55245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5F3E9"/>
                </a:solidFill>
                <a:latin typeface="Arial"/>
                <a:ea typeface="Arial"/>
                <a:cs typeface="Arial"/>
              </a:defRPr>
            </a:pPr>
            <a:r>
              <a:rPr sz="2550" b="1">
                <a:solidFill>
                  <a:srgbClr val="F5F3E9"/>
                </a:solidFill>
                <a:latin typeface="Arial"/>
                <a:ea typeface="Arial"/>
                <a:cs typeface="Arial"/>
              </a:rPr>
              <a:t>FieldSignal</a:t>
            </a:r>
          </a:p>
        </p:txBody>
      </p:sp>
      <p:sp>
        <p:nvSpPr>
          <p:cNvPr id="2" name="">
            <a:extLst xmlns:a="http://schemas.openxmlformats.org/drawingml/2006/main">
              <a:ext uri="{FF2B5EF4-FFF2-40B4-BE49-F238E27FC236}">
                <a16:creationId xmlns:a16="http://schemas.microsoft.com/office/drawing/2014/main" id="{8815BA20-9A24-4AEF-9BD7-50B2653E120D}"/>
              </a:ext>
            </a:extLst>
          </p:cNvPr>
          <p:cNvSpPr>
            <a:spLocks xmlns:a="http://schemas.openxmlformats.org/drawingml/2006/main" noGrp="1"/>
          </p:cNvSpPr>
          <p:nvPr/>
        </p:nvSpPr>
        <p:spPr>
          <a:xfrm xmlns:a="http://schemas.openxmlformats.org/drawingml/2006/main">
            <a:off x="609600" y="162877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100" b="1">
                <a:solidFill>
                  <a:srgbClr val="F5F3E9"/>
                </a:solidFill>
                <a:latin typeface="Arial"/>
                <a:ea typeface="Arial"/>
                <a:cs typeface="Arial"/>
              </a:defRPr>
            </a:pPr>
            <a:r>
              <a:rPr sz="5100" b="1">
                <a:solidFill>
                  <a:srgbClr val="F5F3E9"/>
                </a:solidFill>
                <a:latin typeface="Arial"/>
                <a:ea typeface="Arial"/>
                <a:cs typeface="Arial"/>
              </a:rPr>
              <a:t>Hybrid performance</a:t>
            </a:r>
          </a:p>
          <a:p xmlns:a="http://schemas.openxmlformats.org/drawingml/2006/main">
            <a:pPr>
              <a:defRPr sz="5100" b="1">
                <a:solidFill>
                  <a:srgbClr val="F5F3E9"/>
                </a:solidFill>
                <a:latin typeface="Arial"/>
                <a:ea typeface="Arial"/>
                <a:cs typeface="Arial"/>
              </a:defRPr>
            </a:pPr>
            <a:r>
              <a:rPr sz="5100" b="1">
                <a:solidFill>
                  <a:srgbClr val="F5F3E9"/>
                </a:solidFill>
                <a:latin typeface="Arial"/>
                <a:ea typeface="Arial"/>
                <a:cs typeface="Arial"/>
              </a:rPr>
              <a:t>across environments</a:t>
            </a:r>
          </a:p>
        </p:txBody>
      </p:sp>
      <p:sp>
        <p:nvSpPr>
          <p:cNvPr id="3" name="">
            <a:extLst xmlns:a="http://schemas.openxmlformats.org/drawingml/2006/main">
              <a:ext uri="{FF2B5EF4-FFF2-40B4-BE49-F238E27FC236}">
                <a16:creationId xmlns:a16="http://schemas.microsoft.com/office/drawing/2014/main" id="{25935F22-4183-4CBB-85BE-9659AF3C1275}"/>
              </a:ext>
            </a:extLst>
          </p:cNvPr>
          <p:cNvSpPr>
            <a:spLocks xmlns:a="http://schemas.openxmlformats.org/drawingml/2006/main" noGrp="1"/>
          </p:cNvSpPr>
          <p:nvPr/>
        </p:nvSpPr>
        <p:spPr>
          <a:xfrm xmlns:a="http://schemas.openxmlformats.org/drawingml/2006/main">
            <a:off x="647700" y="36195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DBE8D9"/>
                </a:solidFill>
                <a:latin typeface="Arial"/>
                <a:ea typeface="Arial"/>
                <a:cs typeface="Arial"/>
              </a:defRPr>
            </a:pPr>
            <a:r>
              <a:rPr sz="2250" b="0">
                <a:solidFill>
                  <a:srgbClr val="DBE8D9"/>
                </a:solidFill>
                <a:latin typeface="Arial"/>
                <a:ea typeface="Arial"/>
                <a:cs typeface="Arial"/>
              </a:rPr>
              <a:t>Satellite-informed forecasts for better hybrid selection</a:t>
            </a:r>
          </a:p>
          <a:p xmlns:a="http://schemas.openxmlformats.org/drawingml/2006/main">
            <a:pPr>
              <a:defRPr sz="2250" b="0">
                <a:solidFill>
                  <a:srgbClr val="DBE8D9"/>
                </a:solidFill>
                <a:latin typeface="Arial"/>
                <a:ea typeface="Arial"/>
                <a:cs typeface="Arial"/>
              </a:defRPr>
            </a:pPr>
            <a:r>
              <a:rPr sz="2250" b="0">
                <a:solidFill>
                  <a:srgbClr val="DBE8D9"/>
                </a:solidFill>
                <a:latin typeface="Arial"/>
                <a:ea typeface="Arial"/>
                <a:cs typeface="Arial"/>
              </a:rPr>
              <a:t>across environments</a:t>
            </a:r>
          </a:p>
        </p:txBody>
      </p:sp>
      <p:sp>
        <p:nvSpPr>
          <p:cNvPr id="4" name="">
            <a:extLst xmlns:a="http://schemas.openxmlformats.org/drawingml/2006/main">
              <a:ext uri="{FF2B5EF4-FFF2-40B4-BE49-F238E27FC236}">
                <a16:creationId xmlns:a16="http://schemas.microsoft.com/office/drawing/2014/main" id="{E97EA805-13CD-4836-AA68-162DBCFD8DDE}"/>
              </a:ext>
            </a:extLst>
          </p:cNvPr>
          <p:cNvSpPr>
            <a:spLocks xmlns:a="http://schemas.openxmlformats.org/drawingml/2006/main" noGrp="1"/>
          </p:cNvSpPr>
          <p:nvPr/>
        </p:nvSpPr>
        <p:spPr>
          <a:xfrm xmlns:a="http://schemas.openxmlformats.org/drawingml/2006/main">
            <a:off x="647700" y="5200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F5F3E9"/>
                </a:solidFill>
                <a:latin typeface="Arial"/>
                <a:ea typeface="Arial"/>
                <a:cs typeface="Arial"/>
              </a:defRPr>
            </a:pPr>
            <a:r>
              <a:rPr sz="2325" b="1">
                <a:solidFill>
                  <a:srgbClr val="F5F3E9"/>
                </a:solidFill>
                <a:latin typeface="Arial"/>
                <a:ea typeface="Arial"/>
                <a:cs typeface="Arial"/>
              </a:rPr>
              <a:t>84 hybrids     5 locations     2,131 labeled plots</a:t>
            </a:r>
          </a:p>
        </p:txBody>
      </p:sp>
      <p:sp>
        <p:nvSpPr>
          <p:cNvPr id="5" name="">
            <a:extLst xmlns:a="http://schemas.openxmlformats.org/drawingml/2006/main">
              <a:ext uri="{FF2B5EF4-FFF2-40B4-BE49-F238E27FC236}">
                <a16:creationId xmlns:a16="http://schemas.microsoft.com/office/drawing/2014/main" id="{F8BD88F5-9BF5-41E5-BEFB-34A3782BD2F3}"/>
              </a:ext>
            </a:extLst>
          </p:cNvPr>
          <p:cNvSpPr>
            <a:spLocks xmlns:a="http://schemas.openxmlformats.org/drawingml/2006/main" noGrp="1"/>
          </p:cNvSpPr>
          <p:nvPr/>
        </p:nvSpPr>
        <p:spPr>
          <a:xfrm xmlns:a="http://schemas.openxmlformats.org/drawingml/2006/main">
            <a:off x="647700" y="6000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DBE8D9"/>
                </a:solidFill>
                <a:latin typeface="Arial"/>
                <a:ea typeface="Arial"/>
                <a:cs typeface="Arial"/>
              </a:defRPr>
            </a:pPr>
            <a:r>
              <a:rPr sz="1725" b="0">
                <a:solidFill>
                  <a:srgbClr val="DBE8D9"/>
                </a:solidFill>
                <a:latin typeface="Arial"/>
                <a:ea typeface="Arial"/>
                <a:cs typeface="Arial"/>
              </a:rPr>
              <a:t>Nebraska and Iowa trials, 2022</a:t>
            </a:r>
          </a:p>
        </p:txBody>
      </p:sp>
    </p:spTree>
    <p:extLst>
      <p:ext uri="{BB962C8B-B14F-4D97-AF65-F5344CB8AC3E}">
        <p14:creationId xmlns:p14="http://schemas.microsoft.com/office/powerpoint/2010/main" val="1650247756"/>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7370D5-96A1-49C3-B035-5ACEE557CF73}"/>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73E2C"/>
                </a:solidFill>
                <a:latin typeface="Arial"/>
                <a:ea typeface="Arial"/>
                <a:cs typeface="Arial"/>
              </a:defRPr>
            </a:pPr>
            <a:r>
              <a:rPr sz="3450" b="1">
                <a:solidFill>
                  <a:srgbClr val="173E2C"/>
                </a:solidFill>
                <a:latin typeface="Arial"/>
                <a:ea typeface="Arial"/>
                <a:cs typeface="Arial"/>
              </a:rPr>
              <a:t>Site means span 41 to 165 bu/ac</a:t>
            </a:r>
          </a:p>
        </p:txBody>
      </p:sp>
      <p:sp>
        <p:nvSpPr>
          <p:cNvPr id="2" name="">
            <a:extLst xmlns:a="http://schemas.openxmlformats.org/drawingml/2006/main">
              <a:ext uri="{FF2B5EF4-FFF2-40B4-BE49-F238E27FC236}">
                <a16:creationId xmlns:a16="http://schemas.microsoft.com/office/drawing/2014/main" id="{EDD6AF02-0373-4D44-ACB9-4859C8B3AF40}"/>
              </a:ext>
            </a:extLst>
          </p:cNvPr>
          <p:cNvSpPr>
            <a:spLocks xmlns:a="http://schemas.openxmlformats.org/drawingml/2006/main" noGrp="1"/>
          </p:cNvSpPr>
          <p:nvPr/>
        </p:nvSpPr>
        <p:spPr>
          <a:xfrm xmlns:a="http://schemas.openxmlformats.org/drawingml/2006/main">
            <a:off x="609600" y="1200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Site context matters when comparing the same hybrid across trials</a:t>
            </a:r>
          </a:p>
        </p:txBody>
      </p:sp>
      <p:graphicFrame>
        <p:nvGraphicFramePr>
          <p:cNvPr id="9" name="Chart"/>
          <p:cNvGraphicFramePr/>
          <p:nvPr/>
        </p:nvGraphicFramePr>
        <p:xfrm>
          <a:off xmlns:a="http://schemas.openxmlformats.org/drawingml/2006/main" x="609600" y="2133600"/>
          <a:ext xmlns:a="http://schemas.openxmlformats.org/drawingml/2006/main" cx="7620000" cy="3543300"/>
        </p:xfrm>
        <a:graphic xmlns:a="http://schemas.openxmlformats.org/drawingml/2006/main">
          <a:graphicData uri="http://schemas.openxmlformats.org/drawingml/2006/chart">
            <c:chart xmlns:r="http://schemas.openxmlformats.org/officeDocument/2006/relationships" xmlns:c="http://schemas.openxmlformats.org/drawingml/2006/chart" r:id="R265a8b0eac0c4c29"/>
          </a:graphicData>
        </a:graphic>
      </p:graphicFrame>
      <p:sp>
        <p:nvSpPr>
          <p:cNvPr id="4" name="">
            <a:extLst xmlns:a="http://schemas.openxmlformats.org/drawingml/2006/main">
              <a:ext uri="{FF2B5EF4-FFF2-40B4-BE49-F238E27FC236}">
                <a16:creationId xmlns:a16="http://schemas.microsoft.com/office/drawing/2014/main" id="{4917441C-65F6-491D-A10B-4A4D4EC3750A}"/>
              </a:ext>
            </a:extLst>
          </p:cNvPr>
          <p:cNvSpPr>
            <a:spLocks xmlns:a="http://schemas.openxmlformats.org/drawingml/2006/main" noGrp="1"/>
          </p:cNvSpPr>
          <p:nvPr/>
        </p:nvSpPr>
        <p:spPr>
          <a:xfrm xmlns:a="http://schemas.openxmlformats.org/drawingml/2006/main">
            <a:off x="8724900" y="21907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rPr>
              <a:t>A fair comparison</a:t>
            </a:r>
          </a:p>
        </p:txBody>
      </p:sp>
      <p:sp>
        <p:nvSpPr>
          <p:cNvPr id="5" name="">
            <a:extLst xmlns:a="http://schemas.openxmlformats.org/drawingml/2006/main">
              <a:ext uri="{FF2B5EF4-FFF2-40B4-BE49-F238E27FC236}">
                <a16:creationId xmlns:a16="http://schemas.microsoft.com/office/drawing/2014/main" id="{586DE2CD-BEE4-4EE7-B6BC-FDA50CFEA04F}"/>
              </a:ext>
            </a:extLst>
          </p:cNvPr>
          <p:cNvSpPr>
            <a:spLocks xmlns:a="http://schemas.openxmlformats.org/drawingml/2006/main" noGrp="1"/>
          </p:cNvSpPr>
          <p:nvPr/>
        </p:nvSpPr>
        <p:spPr>
          <a:xfrm xmlns:a="http://schemas.openxmlformats.org/drawingml/2006/main">
            <a:off x="8724900" y="2800350"/>
            <a:ext cx="2762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Average replicates within each treatment.</a:t>
            </a:r>
          </a:p>
          <a:p xmlns:a="http://schemas.openxmlformats.org/drawingml/2006/main">
            <a:r>
              <a:t/>
            </a:r>
          </a:p>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Rank hybrids within that environment.</a:t>
            </a:r>
          </a:p>
          <a:p xmlns:a="http://schemas.openxmlformats.org/drawingml/2006/main">
            <a:r>
              <a:t/>
            </a:r>
          </a:p>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Give each site equal weight.</a:t>
            </a:r>
          </a:p>
        </p:txBody>
      </p:sp>
      <p:sp>
        <p:nvSpPr>
          <p:cNvPr id="6" name="">
            <a:extLst xmlns:a="http://schemas.openxmlformats.org/drawingml/2006/main">
              <a:ext uri="{FF2B5EF4-FFF2-40B4-BE49-F238E27FC236}">
                <a16:creationId xmlns:a16="http://schemas.microsoft.com/office/drawing/2014/main" id="{950826CE-1E6E-49BC-9A5C-7E2AE65FCCD1}"/>
              </a:ext>
            </a:extLst>
          </p:cNvPr>
          <p:cNvSpPr>
            <a:spLocks xmlns:a="http://schemas.openxmlformats.org/drawingml/2006/main" noGrp="1"/>
          </p:cNvSpPr>
          <p:nvPr/>
        </p:nvSpPr>
        <p:spPr>
          <a:xfrm xmlns:a="http://schemas.openxmlformats.org/drawingml/2006/main">
            <a:off x="609600" y="6238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56358"/>
                </a:solidFill>
                <a:latin typeface="Arial"/>
                <a:ea typeface="Arial"/>
                <a:cs typeface="Arial"/>
              </a:defRPr>
            </a:pPr>
            <a:r>
              <a:rPr sz="1350" b="0">
                <a:solidFill>
                  <a:srgbClr val="556358"/>
                </a:solidFill>
                <a:latin typeface="Arial"/>
                <a:ea typeface="Arial"/>
                <a:cs typeface="Arial"/>
              </a:rPr>
              <a:t>Observed harvest. Site means weight hybrids and nitrogen treatments equally; grain moisture standardized to 15.5%.</a:t>
            </a:r>
          </a:p>
        </p:txBody>
      </p:sp>
    </p:spTree>
    <p:extLst>
      <p:ext uri="{BB962C8B-B14F-4D97-AF65-F5344CB8AC3E}">
        <p14:creationId xmlns:p14="http://schemas.microsoft.com/office/powerpoint/2010/main" val="1930735011"/>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5E6435-62FA-4CE2-A337-73992A74D672}"/>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73E2C"/>
                </a:solidFill>
                <a:latin typeface="Arial"/>
                <a:ea typeface="Arial"/>
                <a:cs typeface="Arial"/>
              </a:defRPr>
            </a:pPr>
            <a:r>
              <a:rPr sz="3450" b="1">
                <a:solidFill>
                  <a:srgbClr val="173E2C"/>
                </a:solidFill>
                <a:latin typeface="Arial"/>
                <a:ea typeface="Arial"/>
                <a:cs typeface="Arial"/>
              </a:rPr>
              <a:t>Five hybrids exceed the median at every site</a:t>
            </a:r>
          </a:p>
        </p:txBody>
      </p:sp>
      <p:sp>
        <p:nvSpPr>
          <p:cNvPr id="2" name="">
            <a:extLst xmlns:a="http://schemas.openxmlformats.org/drawingml/2006/main">
              <a:ext uri="{FF2B5EF4-FFF2-40B4-BE49-F238E27FC236}">
                <a16:creationId xmlns:a16="http://schemas.microsoft.com/office/drawing/2014/main" id="{3D34BB64-C984-4977-836E-D347B3726779}"/>
              </a:ext>
            </a:extLst>
          </p:cNvPr>
          <p:cNvSpPr>
            <a:spLocks xmlns:a="http://schemas.openxmlformats.org/drawingml/2006/main" noGrp="1"/>
          </p:cNvSpPr>
          <p:nvPr/>
        </p:nvSpPr>
        <p:spPr>
          <a:xfrm xmlns:a="http://schemas.openxmlformats.org/drawingml/2006/main">
            <a:off x="609600" y="1200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Observed harvest shortlist for the next replicated trials</a:t>
            </a:r>
          </a:p>
        </p:txBody>
      </p:sp>
      <p:graphicFrame>
        <p:nvGraphicFramePr>
          <p:cNvPr id="8" name=""/>
          <p:cNvGraphicFramePr/>
          <p:nvPr/>
        </p:nvGraphicFramePr>
        <p:xfrm>
          <a:off xmlns:a="http://schemas.openxmlformats.org/drawingml/2006/main" x="609600" y="2095500"/>
          <a:ext xmlns:a="http://schemas.openxmlformats.org/drawingml/2006/main" cx="10972800" cy="2876550"/>
        </p:xfrm>
        <a:graphic xmlns:a="http://schemas.openxmlformats.org/drawingml/2006/main">
          <a:graphicData uri="http://schemas.openxmlformats.org/drawingml/2006/table">
            <a:tbl>
              <a:tblPr/>
              <a:tblGrid>
                <a:gridCol w="4305300"/>
                <a:gridCol w="1285875"/>
                <a:gridCol w="1381125"/>
                <a:gridCol w="1285875"/>
                <a:gridCol w="1333500"/>
                <a:gridCol w="1381125"/>
              </a:tblGrid>
              <a:tr h="479425">
                <a:tc>
                  <a:txBody>
                    <a:bodyPr/>
                    <a:lstStyle/>
                    <a:p>
                      <a:r>
                        <a:rPr sz="1500" b="1">
                          <a:solidFill>
                            <a:srgbClr val="F5F3E9"/>
                          </a:solidFill>
                          <a:latin typeface="Arial"/>
                          <a:ea typeface="Arial"/>
                          <a:cs typeface="Arial"/>
                        </a:rPr>
                        <a:t>Hybrid</a:t>
                      </a:r>
                    </a:p>
                  </a:txBody>
                  <a:tcPr marL="114300" marR="114300" marT="95250" marB="95250" anchor="ctr">
                    <a:solidFill>
                      <a:srgbClr val="173E2C"/>
                    </a:solidFill>
                  </a:tcPr>
                </a:tc>
                <a:tc>
                  <a:txBody>
                    <a:bodyPr/>
                    <a:lstStyle/>
                    <a:p>
                      <a:r>
                        <a:rPr sz="1500" b="1">
                          <a:solidFill>
                            <a:srgbClr val="F5F3E9"/>
                          </a:solidFill>
                          <a:latin typeface="Arial"/>
                          <a:ea typeface="Arial"/>
                          <a:cs typeface="Arial"/>
                        </a:rPr>
                        <a:t>Ames</a:t>
                      </a:r>
                    </a:p>
                  </a:txBody>
                  <a:tcPr marL="114300" marR="114300" marT="95250" marB="95250" anchor="ctr">
                    <a:solidFill>
                      <a:srgbClr val="173E2C"/>
                    </a:solidFill>
                  </a:tcPr>
                </a:tc>
                <a:tc>
                  <a:txBody>
                    <a:bodyPr/>
                    <a:lstStyle/>
                    <a:p>
                      <a:r>
                        <a:rPr sz="1500" b="1">
                          <a:solidFill>
                            <a:srgbClr val="F5F3E9"/>
                          </a:solidFill>
                          <a:latin typeface="Arial"/>
                          <a:ea typeface="Arial"/>
                          <a:cs typeface="Arial"/>
                        </a:rPr>
                        <a:t>Crawfordsv.</a:t>
                      </a:r>
                    </a:p>
                  </a:txBody>
                  <a:tcPr marL="114300" marR="114300" marT="95250" marB="95250" anchor="ctr">
                    <a:solidFill>
                      <a:srgbClr val="173E2C"/>
                    </a:solidFill>
                  </a:tcPr>
                </a:tc>
                <a:tc>
                  <a:txBody>
                    <a:bodyPr/>
                    <a:lstStyle/>
                    <a:p>
                      <a:r>
                        <a:rPr sz="1500" b="1">
                          <a:solidFill>
                            <a:srgbClr val="F5F3E9"/>
                          </a:solidFill>
                          <a:latin typeface="Arial"/>
                          <a:ea typeface="Arial"/>
                          <a:cs typeface="Arial"/>
                        </a:rPr>
                        <a:t>Lincoln</a:t>
                      </a:r>
                    </a:p>
                  </a:txBody>
                  <a:tcPr marL="114300" marR="114300" marT="95250" marB="95250" anchor="ctr">
                    <a:solidFill>
                      <a:srgbClr val="173E2C"/>
                    </a:solidFill>
                  </a:tcPr>
                </a:tc>
                <a:tc>
                  <a:txBody>
                    <a:bodyPr/>
                    <a:lstStyle/>
                    <a:p>
                      <a:r>
                        <a:rPr sz="1500" b="1">
                          <a:solidFill>
                            <a:srgbClr val="F5F3E9"/>
                          </a:solidFill>
                          <a:latin typeface="Arial"/>
                          <a:ea typeface="Arial"/>
                          <a:cs typeface="Arial"/>
                        </a:rPr>
                        <a:t>Missouri V.</a:t>
                      </a:r>
                    </a:p>
                  </a:txBody>
                  <a:tcPr marL="114300" marR="114300" marT="95250" marB="95250" anchor="ctr">
                    <a:solidFill>
                      <a:srgbClr val="173E2C"/>
                    </a:solidFill>
                  </a:tcPr>
                </a:tc>
                <a:tc>
                  <a:txBody>
                    <a:bodyPr/>
                    <a:lstStyle/>
                    <a:p>
                      <a:r>
                        <a:rPr sz="1500" b="1">
                          <a:solidFill>
                            <a:srgbClr val="F5F3E9"/>
                          </a:solidFill>
                          <a:latin typeface="Arial"/>
                          <a:ea typeface="Arial"/>
                          <a:cs typeface="Arial"/>
                        </a:rPr>
                        <a:t>Scottsbluff</a:t>
                      </a:r>
                    </a:p>
                  </a:txBody>
                  <a:tcPr marL="114300" marR="114300" marT="95250" marB="95250" anchor="ctr">
                    <a:solidFill>
                      <a:srgbClr val="173E2C"/>
                    </a:solidFill>
                  </a:tcPr>
                </a:tc>
              </a:tr>
              <a:tr h="479425">
                <a:tc>
                  <a:txBody>
                    <a:bodyPr/>
                    <a:lstStyle/>
                    <a:p>
                      <a:r>
                        <a:rPr sz="1650" b="0">
                          <a:solidFill>
                            <a:srgbClr val="173E2C"/>
                          </a:solidFill>
                          <a:latin typeface="Arial"/>
                          <a:ea typeface="Arial"/>
                          <a:cs typeface="Arial"/>
                        </a:rPr>
                        <a:t>HOEGEMEYER 8065RR</a:t>
                      </a:r>
                    </a:p>
                  </a:txBody>
                  <a:tcPr marL="114300" marR="114300" marT="95250" marB="95250" anchor="ctr">
                    <a:solidFill>
                      <a:srgbClr val="E8ECE1"/>
                    </a:solidFill>
                  </a:tcPr>
                </a:tc>
                <a:tc>
                  <a:txBody>
                    <a:bodyPr/>
                    <a:lstStyle/>
                    <a:p>
                      <a:r>
                        <a:rPr sz="2100" b="1">
                          <a:solidFill>
                            <a:srgbClr val="173E2C"/>
                          </a:solidFill>
                          <a:latin typeface="Arial"/>
                          <a:ea typeface="Arial"/>
                          <a:cs typeface="Arial"/>
                        </a:rPr>
                        <a:t>84</a:t>
                      </a:r>
                    </a:p>
                  </a:txBody>
                  <a:tcPr marL="114300" marR="114300" marT="95250" marB="95250" anchor="ctr">
                    <a:solidFill>
                      <a:srgbClr val="AFCBA2"/>
                    </a:solidFill>
                  </a:tcPr>
                </a:tc>
                <a:tc>
                  <a:txBody>
                    <a:bodyPr/>
                    <a:lstStyle/>
                    <a:p>
                      <a:r>
                        <a:rPr sz="2100" b="1">
                          <a:solidFill>
                            <a:srgbClr val="F5F3E9"/>
                          </a:solidFill>
                          <a:latin typeface="Arial"/>
                          <a:ea typeface="Arial"/>
                          <a:cs typeface="Arial"/>
                        </a:rPr>
                        <a:t>99</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96</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98</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90</a:t>
                      </a:r>
                    </a:p>
                  </a:txBody>
                  <a:tcPr marL="114300" marR="114300" marT="95250" marB="95250" anchor="ctr">
                    <a:solidFill>
                      <a:srgbClr val="285F3B"/>
                    </a:solidFill>
                  </a:tcPr>
                </a:tc>
              </a:tr>
              <a:tr h="479425">
                <a:tc>
                  <a:txBody>
                    <a:bodyPr/>
                    <a:lstStyle/>
                    <a:p>
                      <a:r>
                        <a:rPr sz="1650" b="0">
                          <a:solidFill>
                            <a:srgbClr val="173E2C"/>
                          </a:solidFill>
                          <a:latin typeface="Arial"/>
                          <a:ea typeface="Arial"/>
                          <a:cs typeface="Arial"/>
                        </a:rPr>
                        <a:t>SYNGENTA NK0760-3111</a:t>
                      </a:r>
                    </a:p>
                  </a:txBody>
                  <a:tcPr marL="114300" marR="114300" marT="95250" marB="95250" anchor="ctr">
                    <a:solidFill>
                      <a:srgbClr val="E8ECE1"/>
                    </a:solidFill>
                  </a:tcPr>
                </a:tc>
                <a:tc>
                  <a:txBody>
                    <a:bodyPr/>
                    <a:lstStyle/>
                    <a:p>
                      <a:r>
                        <a:rPr sz="2100" b="1">
                          <a:solidFill>
                            <a:srgbClr val="F5F3E9"/>
                          </a:solidFill>
                          <a:latin typeface="Arial"/>
                          <a:ea typeface="Arial"/>
                          <a:cs typeface="Arial"/>
                        </a:rPr>
                        <a:t>89</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93</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85</a:t>
                      </a:r>
                    </a:p>
                  </a:txBody>
                  <a:tcPr marL="114300" marR="114300" marT="95250" marB="95250" anchor="ctr">
                    <a:solidFill>
                      <a:srgbClr val="285F3B"/>
                    </a:solidFill>
                  </a:tcPr>
                </a:tc>
                <a:tc>
                  <a:txBody>
                    <a:bodyPr/>
                    <a:lstStyle/>
                    <a:p>
                      <a:r>
                        <a:rPr sz="2100" b="1">
                          <a:solidFill>
                            <a:srgbClr val="173E2C"/>
                          </a:solidFill>
                          <a:latin typeface="Arial"/>
                          <a:ea typeface="Arial"/>
                          <a:cs typeface="Arial"/>
                        </a:rPr>
                        <a:t>75</a:t>
                      </a:r>
                    </a:p>
                  </a:txBody>
                  <a:tcPr marL="114300" marR="114300" marT="95250" marB="95250" anchor="ctr">
                    <a:solidFill>
                      <a:srgbClr val="AFCBA2"/>
                    </a:solidFill>
                  </a:tcPr>
                </a:tc>
                <a:tc>
                  <a:txBody>
                    <a:bodyPr/>
                    <a:lstStyle/>
                    <a:p>
                      <a:r>
                        <a:rPr sz="2100" b="1">
                          <a:solidFill>
                            <a:srgbClr val="F5F3E9"/>
                          </a:solidFill>
                          <a:latin typeface="Arial"/>
                          <a:ea typeface="Arial"/>
                          <a:cs typeface="Arial"/>
                        </a:rPr>
                        <a:t>96</a:t>
                      </a:r>
                    </a:p>
                  </a:txBody>
                  <a:tcPr marL="114300" marR="114300" marT="95250" marB="95250" anchor="ctr">
                    <a:solidFill>
                      <a:srgbClr val="285F3B"/>
                    </a:solidFill>
                  </a:tcPr>
                </a:tc>
              </a:tr>
              <a:tr h="479425">
                <a:tc>
                  <a:txBody>
                    <a:bodyPr/>
                    <a:lstStyle/>
                    <a:p>
                      <a:r>
                        <a:rPr sz="1650" b="0">
                          <a:solidFill>
                            <a:srgbClr val="173E2C"/>
                          </a:solidFill>
                          <a:latin typeface="Arial"/>
                          <a:ea typeface="Arial"/>
                          <a:cs typeface="Arial"/>
                        </a:rPr>
                        <a:t>HOEGEMEYER 7089 AMXT</a:t>
                      </a:r>
                    </a:p>
                  </a:txBody>
                  <a:tcPr marL="114300" marR="114300" marT="95250" marB="95250" anchor="ctr">
                    <a:solidFill>
                      <a:srgbClr val="E8ECE1"/>
                    </a:solidFill>
                  </a:tcPr>
                </a:tc>
                <a:tc>
                  <a:txBody>
                    <a:bodyPr/>
                    <a:lstStyle/>
                    <a:p>
                      <a:r>
                        <a:rPr sz="2100" b="1">
                          <a:solidFill>
                            <a:srgbClr val="173E2C"/>
                          </a:solidFill>
                          <a:latin typeface="Arial"/>
                          <a:ea typeface="Arial"/>
                          <a:cs typeface="Arial"/>
                        </a:rPr>
                        <a:t>71</a:t>
                      </a:r>
                    </a:p>
                  </a:txBody>
                  <a:tcPr marL="114300" marR="114300" marT="95250" marB="95250" anchor="ctr">
                    <a:solidFill>
                      <a:srgbClr val="AFCBA2"/>
                    </a:solidFill>
                  </a:tcPr>
                </a:tc>
                <a:tc>
                  <a:txBody>
                    <a:bodyPr/>
                    <a:lstStyle/>
                    <a:p>
                      <a:r>
                        <a:rPr sz="2100" b="1">
                          <a:solidFill>
                            <a:srgbClr val="F5F3E9"/>
                          </a:solidFill>
                          <a:latin typeface="Arial"/>
                          <a:ea typeface="Arial"/>
                          <a:cs typeface="Arial"/>
                        </a:rPr>
                        <a:t>96</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99</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100</a:t>
                      </a:r>
                    </a:p>
                  </a:txBody>
                  <a:tcPr marL="114300" marR="114300" marT="95250" marB="95250" anchor="ctr">
                    <a:solidFill>
                      <a:srgbClr val="285F3B"/>
                    </a:solidFill>
                  </a:tcPr>
                </a:tc>
                <a:tc>
                  <a:txBody>
                    <a:bodyPr/>
                    <a:lstStyle/>
                    <a:p>
                      <a:r>
                        <a:rPr sz="2100" b="1">
                          <a:solidFill>
                            <a:srgbClr val="173E2C"/>
                          </a:solidFill>
                          <a:latin typeface="Arial"/>
                          <a:ea typeface="Arial"/>
                          <a:cs typeface="Arial"/>
                        </a:rPr>
                        <a:t>68</a:t>
                      </a:r>
                    </a:p>
                  </a:txBody>
                  <a:tcPr marL="114300" marR="114300" marT="95250" marB="95250" anchor="ctr">
                    <a:solidFill>
                      <a:srgbClr val="E1E9B8"/>
                    </a:solidFill>
                  </a:tcPr>
                </a:tc>
              </a:tr>
              <a:tr h="479425">
                <a:tc>
                  <a:txBody>
                    <a:bodyPr/>
                    <a:lstStyle/>
                    <a:p>
                      <a:r>
                        <a:rPr sz="1650" b="0">
                          <a:solidFill>
                            <a:srgbClr val="173E2C"/>
                          </a:solidFill>
                          <a:latin typeface="Arial"/>
                          <a:ea typeface="Arial"/>
                          <a:cs typeface="Arial"/>
                        </a:rPr>
                        <a:t>PIONEER P0589 AMXT</a:t>
                      </a:r>
                    </a:p>
                  </a:txBody>
                  <a:tcPr marL="114300" marR="114300" marT="95250" marB="95250" anchor="ctr">
                    <a:solidFill>
                      <a:srgbClr val="E8ECE1"/>
                    </a:solidFill>
                  </a:tcPr>
                </a:tc>
                <a:tc>
                  <a:txBody>
                    <a:bodyPr/>
                    <a:lstStyle/>
                    <a:p>
                      <a:r>
                        <a:rPr sz="2100" b="1">
                          <a:solidFill>
                            <a:srgbClr val="F5F3E9"/>
                          </a:solidFill>
                          <a:latin typeface="Arial"/>
                          <a:ea typeface="Arial"/>
                          <a:cs typeface="Arial"/>
                        </a:rPr>
                        <a:t>90</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96</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100</a:t>
                      </a:r>
                    </a:p>
                  </a:txBody>
                  <a:tcPr marL="114300" marR="114300" marT="95250" marB="95250" anchor="ctr">
                    <a:solidFill>
                      <a:srgbClr val="285F3B"/>
                    </a:solidFill>
                  </a:tcPr>
                </a:tc>
                <a:tc>
                  <a:txBody>
                    <a:bodyPr/>
                    <a:lstStyle/>
                    <a:p>
                      <a:r>
                        <a:rPr sz="2100" b="1">
                          <a:solidFill>
                            <a:srgbClr val="173E2C"/>
                          </a:solidFill>
                          <a:latin typeface="Arial"/>
                          <a:ea typeface="Arial"/>
                          <a:cs typeface="Arial"/>
                        </a:rPr>
                        <a:t>67</a:t>
                      </a:r>
                    </a:p>
                  </a:txBody>
                  <a:tcPr marL="114300" marR="114300" marT="95250" marB="95250" anchor="ctr">
                    <a:solidFill>
                      <a:srgbClr val="E1E9B8"/>
                    </a:solidFill>
                  </a:tcPr>
                </a:tc>
                <a:tc>
                  <a:txBody>
                    <a:bodyPr/>
                    <a:lstStyle/>
                    <a:p>
                      <a:r>
                        <a:rPr sz="2100" b="1">
                          <a:solidFill>
                            <a:srgbClr val="173E2C"/>
                          </a:solidFill>
                          <a:latin typeface="Arial"/>
                          <a:ea typeface="Arial"/>
                          <a:cs typeface="Arial"/>
                        </a:rPr>
                        <a:t>71</a:t>
                      </a:r>
                    </a:p>
                  </a:txBody>
                  <a:tcPr marL="114300" marR="114300" marT="95250" marB="95250" anchor="ctr">
                    <a:solidFill>
                      <a:srgbClr val="AFCBA2"/>
                    </a:solidFill>
                  </a:tcPr>
                </a:tc>
              </a:tr>
              <a:tr h="479425">
                <a:tc>
                  <a:txBody>
                    <a:bodyPr/>
                    <a:lstStyle/>
                    <a:p>
                      <a:r>
                        <a:rPr sz="1650" b="0">
                          <a:solidFill>
                            <a:srgbClr val="173E2C"/>
                          </a:solidFill>
                          <a:latin typeface="Arial"/>
                          <a:ea typeface="Arial"/>
                          <a:cs typeface="Arial"/>
                        </a:rPr>
                        <a:t>PHW52 X PHN82</a:t>
                      </a:r>
                    </a:p>
                  </a:txBody>
                  <a:tcPr marL="114300" marR="114300" marT="95250" marB="95250" anchor="ctr">
                    <a:solidFill>
                      <a:srgbClr val="E8ECE1"/>
                    </a:solidFill>
                  </a:tcPr>
                </a:tc>
                <a:tc>
                  <a:txBody>
                    <a:bodyPr/>
                    <a:lstStyle/>
                    <a:p>
                      <a:r>
                        <a:rPr sz="2100" b="1">
                          <a:solidFill>
                            <a:srgbClr val="F5F3E9"/>
                          </a:solidFill>
                          <a:latin typeface="Arial"/>
                          <a:ea typeface="Arial"/>
                          <a:cs typeface="Arial"/>
                        </a:rPr>
                        <a:t>91</a:t>
                      </a:r>
                    </a:p>
                  </a:txBody>
                  <a:tcPr marL="114300" marR="114300" marT="95250" marB="95250" anchor="ctr">
                    <a:solidFill>
                      <a:srgbClr val="285F3B"/>
                    </a:solidFill>
                  </a:tcPr>
                </a:tc>
                <a:tc>
                  <a:txBody>
                    <a:bodyPr/>
                    <a:lstStyle/>
                    <a:p>
                      <a:r>
                        <a:rPr sz="2100" b="1">
                          <a:solidFill>
                            <a:srgbClr val="173E2C"/>
                          </a:solidFill>
                          <a:latin typeface="Arial"/>
                          <a:ea typeface="Arial"/>
                          <a:cs typeface="Arial"/>
                        </a:rPr>
                        <a:t>77</a:t>
                      </a:r>
                    </a:p>
                  </a:txBody>
                  <a:tcPr marL="114300" marR="114300" marT="95250" marB="95250" anchor="ctr">
                    <a:solidFill>
                      <a:srgbClr val="AFCBA2"/>
                    </a:solidFill>
                  </a:tcPr>
                </a:tc>
                <a:tc>
                  <a:txBody>
                    <a:bodyPr/>
                    <a:lstStyle/>
                    <a:p>
                      <a:r>
                        <a:rPr sz="2100" b="1">
                          <a:solidFill>
                            <a:srgbClr val="F5F3E9"/>
                          </a:solidFill>
                          <a:latin typeface="Arial"/>
                          <a:ea typeface="Arial"/>
                          <a:cs typeface="Arial"/>
                        </a:rPr>
                        <a:t>86</a:t>
                      </a:r>
                    </a:p>
                  </a:txBody>
                  <a:tcPr marL="114300" marR="114300" marT="95250" marB="95250" anchor="ctr">
                    <a:solidFill>
                      <a:srgbClr val="285F3B"/>
                    </a:solidFill>
                  </a:tcPr>
                </a:tc>
                <a:tc>
                  <a:txBody>
                    <a:bodyPr/>
                    <a:lstStyle/>
                    <a:p>
                      <a:r>
                        <a:rPr sz="2100" b="1">
                          <a:solidFill>
                            <a:srgbClr val="F5F3E9"/>
                          </a:solidFill>
                          <a:latin typeface="Arial"/>
                          <a:ea typeface="Arial"/>
                          <a:cs typeface="Arial"/>
                        </a:rPr>
                        <a:t>95</a:t>
                      </a:r>
                    </a:p>
                  </a:txBody>
                  <a:tcPr marL="114300" marR="114300" marT="95250" marB="95250" anchor="ctr">
                    <a:solidFill>
                      <a:srgbClr val="285F3B"/>
                    </a:solidFill>
                  </a:tcPr>
                </a:tc>
                <a:tc>
                  <a:txBody>
                    <a:bodyPr/>
                    <a:lstStyle/>
                    <a:p>
                      <a:r>
                        <a:rPr sz="2100" b="1">
                          <a:solidFill>
                            <a:srgbClr val="173E2C"/>
                          </a:solidFill>
                          <a:latin typeface="Arial"/>
                          <a:ea typeface="Arial"/>
                          <a:cs typeface="Arial"/>
                        </a:rPr>
                        <a:t>59</a:t>
                      </a:r>
                    </a:p>
                  </a:txBody>
                  <a:tcPr marL="114300" marR="114300" marT="95250" marB="95250" anchor="ctr">
                    <a:solidFill>
                      <a:srgbClr val="E1E9B8"/>
                    </a:solidFill>
                  </a:tcPr>
                </a:tc>
              </a:tr>
            </a:tbl>
          </a:graphicData>
        </a:graphic>
      </p:graphicFrame>
      <p:sp>
        <p:nvSpPr>
          <p:cNvPr id="4" name="">
            <a:extLst xmlns:a="http://schemas.openxmlformats.org/drawingml/2006/main">
              <a:ext uri="{FF2B5EF4-FFF2-40B4-BE49-F238E27FC236}">
                <a16:creationId xmlns:a16="http://schemas.microsoft.com/office/drawing/2014/main" id="{CD90C6DD-8F11-4BFA-94C7-414CAF236BD0}"/>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73E2C"/>
                </a:solidFill>
                <a:latin typeface="Arial"/>
                <a:ea typeface="Arial"/>
                <a:cs typeface="Arial"/>
              </a:defRPr>
            </a:pPr>
            <a:r>
              <a:rPr sz="2175" b="1">
                <a:solidFill>
                  <a:srgbClr val="173E2C"/>
                </a:solidFill>
                <a:latin typeface="Arial"/>
                <a:ea typeface="Arial"/>
                <a:cs typeface="Arial"/>
              </a:rPr>
              <a:t>Leader: 93.4 average percentile; 84.3 at its weakest site</a:t>
            </a:r>
          </a:p>
        </p:txBody>
      </p:sp>
      <p:sp>
        <p:nvSpPr>
          <p:cNvPr id="5" name="">
            <a:extLst xmlns:a="http://schemas.openxmlformats.org/drawingml/2006/main">
              <a:ext uri="{FF2B5EF4-FFF2-40B4-BE49-F238E27FC236}">
                <a16:creationId xmlns:a16="http://schemas.microsoft.com/office/drawing/2014/main" id="{6752FED4-8D47-4D57-82F0-5BD91B997623}"/>
              </a:ext>
            </a:extLst>
          </p:cNvPr>
          <p:cNvSpPr>
            <a:spLocks xmlns:a="http://schemas.openxmlformats.org/drawingml/2006/main" noGrp="1"/>
          </p:cNvSpPr>
          <p:nvPr/>
        </p:nvSpPr>
        <p:spPr>
          <a:xfrm xmlns:a="http://schemas.openxmlformats.org/drawingml/2006/main">
            <a:off x="609600" y="6238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56358"/>
                </a:solidFill>
                <a:latin typeface="Arial"/>
                <a:ea typeface="Arial"/>
                <a:cs typeface="Arial"/>
              </a:defRPr>
            </a:pPr>
            <a:r>
              <a:rPr sz="1350" b="0">
                <a:solidFill>
                  <a:srgbClr val="556358"/>
                </a:solidFill>
                <a:latin typeface="Arial"/>
                <a:ea typeface="Arial"/>
                <a:cs typeface="Arial"/>
              </a:rPr>
              <a:t>Within-site treatment-balanced percentiles. Observed evidence, not a forecast. Some treatment cells have one replicate.</a:t>
            </a:r>
          </a:p>
        </p:txBody>
      </p:sp>
    </p:spTree>
    <p:extLst>
      <p:ext uri="{BB962C8B-B14F-4D97-AF65-F5344CB8AC3E}">
        <p14:creationId xmlns:p14="http://schemas.microsoft.com/office/powerpoint/2010/main" val="1879782081"/>
      </p:ext>
    </p:extLst>
  </p:cSld>
</p:sld>
</file>

<file path=ppt/slides/slide4.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83B7FE-777E-4181-839D-6C5F9A216A32}"/>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73E2C"/>
                </a:solidFill>
                <a:latin typeface="Arial"/>
                <a:ea typeface="Arial"/>
                <a:cs typeface="Arial"/>
              </a:defRPr>
            </a:pPr>
            <a:r>
              <a:rPr sz="3450" b="1">
                <a:solidFill>
                  <a:srgbClr val="173E2C"/>
                </a:solidFill>
                <a:latin typeface="Arial"/>
                <a:ea typeface="Arial"/>
                <a:cs typeface="Arial"/>
              </a:rPr>
              <a:t>Nitrogen contrasts change with the site</a:t>
            </a:r>
          </a:p>
        </p:txBody>
      </p:sp>
      <p:sp>
        <p:nvSpPr>
          <p:cNvPr id="2" name="">
            <a:extLst xmlns:a="http://schemas.openxmlformats.org/drawingml/2006/main">
              <a:ext uri="{FF2B5EF4-FFF2-40B4-BE49-F238E27FC236}">
                <a16:creationId xmlns:a16="http://schemas.microsoft.com/office/drawing/2014/main" id="{507F1FA2-73B4-474C-9306-D9B7F4A4B62D}"/>
              </a:ext>
            </a:extLst>
          </p:cNvPr>
          <p:cNvSpPr>
            <a:spLocks xmlns:a="http://schemas.openxmlformats.org/drawingml/2006/main" noGrp="1"/>
          </p:cNvSpPr>
          <p:nvPr/>
        </p:nvSpPr>
        <p:spPr>
          <a:xfrm xmlns:a="http://schemas.openxmlformats.org/drawingml/2006/main">
            <a:off x="609600" y="1200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Same hybrid, same site: observed yield at 150 minus 75 lb nitrogen/acre</a:t>
            </a:r>
          </a:p>
        </p:txBody>
      </p:sp>
      <p:graphicFrame>
        <p:nvGraphicFramePr>
          <p:cNvPr id="11" name="Chart"/>
          <p:cNvGraphicFramePr/>
          <p:nvPr/>
        </p:nvGraphicFramePr>
        <p:xfrm>
          <a:off xmlns:a="http://schemas.openxmlformats.org/drawingml/2006/main" x="609600" y="2152650"/>
          <a:ext xmlns:a="http://schemas.openxmlformats.org/drawingml/2006/main" cx="7953375" cy="3457575"/>
        </p:xfrm>
        <a:graphic xmlns:a="http://schemas.openxmlformats.org/drawingml/2006/main">
          <a:graphicData uri="http://schemas.openxmlformats.org/drawingml/2006/chart">
            <c:chart xmlns:r="http://schemas.openxmlformats.org/officeDocument/2006/relationships" xmlns:c="http://schemas.openxmlformats.org/drawingml/2006/chart" r:id="R96fc8988066a4920"/>
          </a:graphicData>
        </a:graphic>
      </p:graphicFrame>
      <p:sp>
        <p:nvSpPr>
          <p:cNvPr id="4" name="">
            <a:extLst xmlns:a="http://schemas.openxmlformats.org/drawingml/2006/main">
              <a:ext uri="{FF2B5EF4-FFF2-40B4-BE49-F238E27FC236}">
                <a16:creationId xmlns:a16="http://schemas.microsoft.com/office/drawing/2014/main" id="{AC7706F2-A57F-4E49-AE58-E94E16A5C8BD}"/>
              </a:ext>
            </a:extLst>
          </p:cNvPr>
          <p:cNvSpPr>
            <a:spLocks xmlns:a="http://schemas.openxmlformats.org/drawingml/2006/main" noGrp="1"/>
          </p:cNvSpPr>
          <p:nvPr/>
        </p:nvSpPr>
        <p:spPr>
          <a:xfrm xmlns:a="http://schemas.openxmlformats.org/drawingml/2006/main">
            <a:off x="9144000" y="2295525"/>
            <a:ext cx="2381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73E2C"/>
                </a:solidFill>
                <a:latin typeface="Arial"/>
                <a:ea typeface="Arial"/>
                <a:cs typeface="Arial"/>
              </a:defRPr>
            </a:pPr>
            <a:r>
              <a:rPr sz="4800" b="1">
                <a:solidFill>
                  <a:srgbClr val="173E2C"/>
                </a:solidFill>
                <a:latin typeface="Arial"/>
                <a:ea typeface="Arial"/>
                <a:cs typeface="Arial"/>
              </a:rPr>
              <a:t>336</a:t>
            </a:r>
          </a:p>
        </p:txBody>
      </p:sp>
      <p:sp>
        <p:nvSpPr>
          <p:cNvPr id="5" name="">
            <a:extLst xmlns:a="http://schemas.openxmlformats.org/drawingml/2006/main">
              <a:ext uri="{FF2B5EF4-FFF2-40B4-BE49-F238E27FC236}">
                <a16:creationId xmlns:a16="http://schemas.microsoft.com/office/drawing/2014/main" id="{0C6165BD-B982-4250-AE07-2D20FEED659F}"/>
              </a:ext>
            </a:extLst>
          </p:cNvPr>
          <p:cNvSpPr>
            <a:spLocks xmlns:a="http://schemas.openxmlformats.org/drawingml/2006/main" noGrp="1"/>
          </p:cNvSpPr>
          <p:nvPr/>
        </p:nvSpPr>
        <p:spPr>
          <a:xfrm xmlns:a="http://schemas.openxmlformats.org/drawingml/2006/main">
            <a:off x="9163050" y="3181350"/>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matched hybrid-site</a:t>
            </a:r>
          </a:p>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comparisons</a:t>
            </a:r>
          </a:p>
        </p:txBody>
      </p:sp>
      <p:sp>
        <p:nvSpPr>
          <p:cNvPr id="6" name="">
            <a:extLst xmlns:a="http://schemas.openxmlformats.org/drawingml/2006/main">
              <a:ext uri="{FF2B5EF4-FFF2-40B4-BE49-F238E27FC236}">
                <a16:creationId xmlns:a16="http://schemas.microsoft.com/office/drawing/2014/main" id="{698CA660-C826-4439-B648-DB0DCCF86A16}"/>
              </a:ext>
            </a:extLst>
          </p:cNvPr>
          <p:cNvSpPr>
            <a:spLocks xmlns:a="http://schemas.openxmlformats.org/drawingml/2006/main" noGrp="1"/>
          </p:cNvSpPr>
          <p:nvPr/>
        </p:nvSpPr>
        <p:spPr>
          <a:xfrm xmlns:a="http://schemas.openxmlformats.org/drawingml/2006/main">
            <a:off x="9144000" y="43243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E2C"/>
                </a:solidFill>
                <a:latin typeface="Arial"/>
                <a:ea typeface="Arial"/>
                <a:cs typeface="Arial"/>
              </a:defRPr>
            </a:pPr>
            <a:r>
              <a:rPr sz="2850" b="1">
                <a:solidFill>
                  <a:srgbClr val="173E2C"/>
                </a:solidFill>
                <a:latin typeface="Arial"/>
                <a:ea typeface="Arial"/>
                <a:cs typeface="Arial"/>
              </a:rPr>
              <a:t>+8.0 bu/ac</a:t>
            </a:r>
          </a:p>
        </p:txBody>
      </p:sp>
      <p:sp>
        <p:nvSpPr>
          <p:cNvPr id="7" name="">
            <a:extLst xmlns:a="http://schemas.openxmlformats.org/drawingml/2006/main">
              <a:ext uri="{FF2B5EF4-FFF2-40B4-BE49-F238E27FC236}">
                <a16:creationId xmlns:a16="http://schemas.microsoft.com/office/drawing/2014/main" id="{E1967E58-BAF9-4C99-9C7C-9E714306DCD2}"/>
              </a:ext>
            </a:extLst>
          </p:cNvPr>
          <p:cNvSpPr>
            <a:spLocks xmlns:a="http://schemas.openxmlformats.org/drawingml/2006/main" noGrp="1"/>
          </p:cNvSpPr>
          <p:nvPr/>
        </p:nvSpPr>
        <p:spPr>
          <a:xfrm xmlns:a="http://schemas.openxmlformats.org/drawingml/2006/main">
            <a:off x="9163050" y="49149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equal-site mean</a:t>
            </a:r>
          </a:p>
        </p:txBody>
      </p:sp>
      <p:sp>
        <p:nvSpPr>
          <p:cNvPr id="8" name="">
            <a:extLst xmlns:a="http://schemas.openxmlformats.org/drawingml/2006/main">
              <a:ext uri="{FF2B5EF4-FFF2-40B4-BE49-F238E27FC236}">
                <a16:creationId xmlns:a16="http://schemas.microsoft.com/office/drawing/2014/main" id="{F96E4EF7-0B4D-4AC1-A9B9-4D35601DC198}"/>
              </a:ext>
            </a:extLst>
          </p:cNvPr>
          <p:cNvSpPr>
            <a:spLocks xmlns:a="http://schemas.openxmlformats.org/drawingml/2006/main" noGrp="1"/>
          </p:cNvSpPr>
          <p:nvPr/>
        </p:nvSpPr>
        <p:spPr>
          <a:xfrm xmlns:a="http://schemas.openxmlformats.org/drawingml/2006/main">
            <a:off x="609600" y="6238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56358"/>
                </a:solidFill>
                <a:latin typeface="Arial"/>
                <a:ea typeface="Arial"/>
                <a:cs typeface="Arial"/>
              </a:defRPr>
            </a:pPr>
            <a:r>
              <a:rPr sz="1350" b="0">
                <a:solidFill>
                  <a:srgbClr val="556358"/>
                </a:solidFill>
                <a:latin typeface="Arial"/>
                <a:ea typeface="Arial"/>
                <a:cs typeface="Arial"/>
              </a:rPr>
              <a:t>Descriptive contrasts. Field placement can contribute to differences. No optimal-rate or isolated irrigation claim.</a:t>
            </a:r>
          </a:p>
        </p:txBody>
      </p:sp>
    </p:spTree>
    <p:extLst>
      <p:ext uri="{BB962C8B-B14F-4D97-AF65-F5344CB8AC3E}">
        <p14:creationId xmlns:p14="http://schemas.microsoft.com/office/powerpoint/2010/main" val="2137787895"/>
      </p:ext>
    </p:extLst>
  </p:cSld>
</p:sld>
</file>

<file path=ppt/slides/slide5.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6C07E5-8961-4908-A1B3-D6069EDCB8B1}"/>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73E2C"/>
                </a:solidFill>
                <a:latin typeface="Arial"/>
                <a:ea typeface="Arial"/>
                <a:cs typeface="Arial"/>
              </a:defRPr>
            </a:pPr>
            <a:r>
              <a:rPr sz="3450" b="1">
                <a:solidFill>
                  <a:srgbClr val="173E2C"/>
                </a:solidFill>
                <a:latin typeface="Arial"/>
                <a:ea typeface="Arial"/>
                <a:cs typeface="Arial"/>
              </a:rPr>
              <a:t>Satellite forecasts tested at unseen locations</a:t>
            </a:r>
          </a:p>
        </p:txBody>
      </p:sp>
      <p:sp>
        <p:nvSpPr>
          <p:cNvPr id="2" name="">
            <a:extLst xmlns:a="http://schemas.openxmlformats.org/drawingml/2006/main">
              <a:ext uri="{FF2B5EF4-FFF2-40B4-BE49-F238E27FC236}">
                <a16:creationId xmlns:a16="http://schemas.microsoft.com/office/drawing/2014/main" id="{AE65AFF3-F348-4732-AC45-42F5F8F877C9}"/>
              </a:ext>
            </a:extLst>
          </p:cNvPr>
          <p:cNvSpPr>
            <a:spLocks xmlns:a="http://schemas.openxmlformats.org/drawingml/2006/main" noGrp="1"/>
          </p:cNvSpPr>
          <p:nvPr/>
        </p:nvSpPr>
        <p:spPr>
          <a:xfrm xmlns:a="http://schemas.openxmlformats.org/drawingml/2006/main">
            <a:off x="609600" y="1200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Day 90: five held-out-site folds, with separate tests of yield and hybrid ranking</a:t>
            </a:r>
          </a:p>
        </p:txBody>
      </p:sp>
      <p:graphicFrame>
        <p:nvGraphicFramePr>
          <p:cNvPr id="12" name="Chart"/>
          <p:cNvGraphicFramePr/>
          <p:nvPr/>
        </p:nvGraphicFramePr>
        <p:xfrm>
          <a:off xmlns:a="http://schemas.openxmlformats.org/drawingml/2006/main" x="609600" y="2143125"/>
          <a:ext xmlns:a="http://schemas.openxmlformats.org/drawingml/2006/main" cx="7086600" cy="3171825"/>
        </p:xfrm>
        <a:graphic xmlns:a="http://schemas.openxmlformats.org/drawingml/2006/main">
          <a:graphicData uri="http://schemas.openxmlformats.org/drawingml/2006/chart">
            <c:chart xmlns:r="http://schemas.openxmlformats.org/officeDocument/2006/relationships" xmlns:c="http://schemas.openxmlformats.org/drawingml/2006/chart" r:id="Rabce72f85b62484e"/>
          </a:graphicData>
        </a:graphic>
      </p:graphicFrame>
      <p:sp>
        <p:nvSpPr>
          <p:cNvPr id="4" name="">
            <a:extLst xmlns:a="http://schemas.openxmlformats.org/drawingml/2006/main">
              <a:ext uri="{FF2B5EF4-FFF2-40B4-BE49-F238E27FC236}">
                <a16:creationId xmlns:a16="http://schemas.microsoft.com/office/drawing/2014/main" id="{710F6332-F28E-4180-819B-16A159BCA289}"/>
              </a:ext>
            </a:extLst>
          </p:cNvPr>
          <p:cNvSpPr>
            <a:spLocks xmlns:a="http://schemas.openxmlformats.org/drawingml/2006/main" noGrp="1"/>
          </p:cNvSpPr>
          <p:nvPr/>
        </p:nvSpPr>
        <p:spPr>
          <a:xfrm xmlns:a="http://schemas.openxmlformats.org/drawingml/2006/main">
            <a:off x="8410575" y="2257425"/>
            <a:ext cx="304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75" b="1">
                <a:solidFill>
                  <a:srgbClr val="173E2C"/>
                </a:solidFill>
                <a:latin typeface="Arial"/>
                <a:ea typeface="Arial"/>
                <a:cs typeface="Arial"/>
              </a:defRPr>
            </a:pPr>
            <a:r>
              <a:rPr sz="3975" b="1">
                <a:solidFill>
                  <a:srgbClr val="173E2C"/>
                </a:solidFill>
                <a:latin typeface="Arial"/>
                <a:ea typeface="Arial"/>
                <a:cs typeface="Arial"/>
              </a:rPr>
              <a:t>5.0 / 10</a:t>
            </a:r>
          </a:p>
        </p:txBody>
      </p:sp>
      <p:sp>
        <p:nvSpPr>
          <p:cNvPr id="5" name="">
            <a:extLst xmlns:a="http://schemas.openxmlformats.org/drawingml/2006/main">
              <a:ext uri="{FF2B5EF4-FFF2-40B4-BE49-F238E27FC236}">
                <a16:creationId xmlns:a16="http://schemas.microsoft.com/office/drawing/2014/main" id="{DD8F087F-B610-4915-A7B0-C5D99CAB2F51}"/>
              </a:ext>
            </a:extLst>
          </p:cNvPr>
          <p:cNvSpPr>
            <a:spLocks xmlns:a="http://schemas.openxmlformats.org/drawingml/2006/main" noGrp="1"/>
          </p:cNvSpPr>
          <p:nvPr/>
        </p:nvSpPr>
        <p:spPr>
          <a:xfrm xmlns:a="http://schemas.openxmlformats.org/drawingml/2006/main">
            <a:off x="8448675" y="3076575"/>
            <a:ext cx="300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Observed top-10 hybrids</a:t>
            </a:r>
          </a:p>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recovered by Ridge, on average</a:t>
            </a:r>
          </a:p>
        </p:txBody>
      </p:sp>
      <p:sp>
        <p:nvSpPr>
          <p:cNvPr id="6" name="">
            <a:extLst xmlns:a="http://schemas.openxmlformats.org/drawingml/2006/main">
              <a:ext uri="{FF2B5EF4-FFF2-40B4-BE49-F238E27FC236}">
                <a16:creationId xmlns:a16="http://schemas.microsoft.com/office/drawing/2014/main" id="{3C9E9C43-2F65-4161-8331-215E82191546}"/>
              </a:ext>
            </a:extLst>
          </p:cNvPr>
          <p:cNvSpPr>
            <a:spLocks xmlns:a="http://schemas.openxmlformats.org/drawingml/2006/main" noGrp="1"/>
          </p:cNvSpPr>
          <p:nvPr/>
        </p:nvSpPr>
        <p:spPr>
          <a:xfrm xmlns:a="http://schemas.openxmlformats.org/drawingml/2006/main">
            <a:off x="8448675" y="4152900"/>
            <a:ext cx="3000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CatBoost: 4.6 of 10</a:t>
            </a:r>
          </a:p>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Random: 1.2 of 10</a:t>
            </a:r>
          </a:p>
        </p:txBody>
      </p:sp>
      <p:sp>
        <p:nvSpPr>
          <p:cNvPr id="7" name="">
            <a:extLst xmlns:a="http://schemas.openxmlformats.org/drawingml/2006/main">
              <a:ext uri="{FF2B5EF4-FFF2-40B4-BE49-F238E27FC236}">
                <a16:creationId xmlns:a16="http://schemas.microsoft.com/office/drawing/2014/main" id="{5EACD702-E0E5-46E7-99C3-14432F03C48A}"/>
              </a:ext>
            </a:extLst>
          </p:cNvPr>
          <p:cNvSpPr>
            <a:spLocks xmlns:a="http://schemas.openxmlformats.org/drawingml/2006/main" noGrp="1"/>
          </p:cNvSpPr>
          <p:nvPr/>
        </p:nvSpPr>
        <p:spPr>
          <a:xfrm xmlns:a="http://schemas.openxmlformats.org/drawingml/2006/main">
            <a:off x="2552700" y="5219700"/>
            <a:ext cx="520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56358"/>
                </a:solidFill>
                <a:latin typeface="Arial"/>
                <a:ea typeface="Arial"/>
                <a:cs typeface="Arial"/>
              </a:defRPr>
            </a:pPr>
            <a:r>
              <a:rPr sz="1575" b="0">
                <a:solidFill>
                  <a:srgbClr val="556358"/>
                </a:solidFill>
                <a:latin typeface="Arial"/>
                <a:ea typeface="Arial"/>
                <a:cs typeface="Arial"/>
              </a:rPr>
              <a:t>Mean absolute error (bu/ac), lower is better</a:t>
            </a:r>
          </a:p>
        </p:txBody>
      </p:sp>
      <p:sp>
        <p:nvSpPr>
          <p:cNvPr id="8" name="">
            <a:extLst xmlns:a="http://schemas.openxmlformats.org/drawingml/2006/main">
              <a:ext uri="{FF2B5EF4-FFF2-40B4-BE49-F238E27FC236}">
                <a16:creationId xmlns:a16="http://schemas.microsoft.com/office/drawing/2014/main" id="{973B9BC9-31CB-452B-9C5F-A031913D45C6}"/>
              </a:ext>
            </a:extLst>
          </p:cNvPr>
          <p:cNvSpPr>
            <a:spLocks xmlns:a="http://schemas.openxmlformats.org/drawingml/2006/main" noGrp="1"/>
          </p:cNvSpPr>
          <p:nvPr/>
        </p:nvSpPr>
        <p:spPr>
          <a:xfrm xmlns:a="http://schemas.openxmlformats.org/drawingml/2006/main">
            <a:off x="609600" y="5572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73E2C"/>
                </a:solidFill>
                <a:latin typeface="Arial"/>
                <a:ea typeface="Arial"/>
                <a:cs typeface="Arial"/>
              </a:defRPr>
            </a:pPr>
            <a:r>
              <a:rPr sz="2175" b="1">
                <a:solidFill>
                  <a:srgbClr val="173E2C"/>
                </a:solidFill>
                <a:latin typeface="Arial"/>
                <a:ea typeface="Arial"/>
                <a:cs typeface="Arial"/>
              </a:rPr>
              <a:t>Next: advance the shortlist to replicated trials and validate on 2023</a:t>
            </a:r>
          </a:p>
        </p:txBody>
      </p:sp>
      <p:sp>
        <p:nvSpPr>
          <p:cNvPr id="9" name="">
            <a:extLst xmlns:a="http://schemas.openxmlformats.org/drawingml/2006/main">
              <a:ext uri="{FF2B5EF4-FFF2-40B4-BE49-F238E27FC236}">
                <a16:creationId xmlns:a16="http://schemas.microsoft.com/office/drawing/2014/main" id="{85DFEB3A-CB2C-499C-A2FF-F8512C512075}"/>
              </a:ext>
            </a:extLst>
          </p:cNvPr>
          <p:cNvSpPr>
            <a:spLocks xmlns:a="http://schemas.openxmlformats.org/drawingml/2006/main" noGrp="1"/>
          </p:cNvSpPr>
          <p:nvPr/>
        </p:nvSpPr>
        <p:spPr>
          <a:xfrm xmlns:a="http://schemas.openxmlformats.org/drawingml/2006/main">
            <a:off x="609600" y="6238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56358"/>
                </a:solidFill>
                <a:latin typeface="Arial"/>
                <a:ea typeface="Arial"/>
                <a:cs typeface="Arial"/>
              </a:defRPr>
            </a:pPr>
            <a:r>
              <a:rPr sz="1350" b="0">
                <a:solidFill>
                  <a:srgbClr val="556358"/>
                </a:solidFill>
                <a:latin typeface="Arial"/>
                <a:ea typeface="Arial"/>
                <a:cs typeface="Arial"/>
              </a:rPr>
              <a:t>Ridge is exploratory development on 2022, with nested tuning. Forecasts remain imperfect; no cross-season claim.</a:t>
            </a:r>
          </a:p>
        </p:txBody>
      </p:sp>
    </p:spTree>
    <p:extLst>
      <p:ext uri="{BB962C8B-B14F-4D97-AF65-F5344CB8AC3E}">
        <p14:creationId xmlns:p14="http://schemas.microsoft.com/office/powerpoint/2010/main" val="2684805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2026-09-26T14:29:01.5120000Z</dcterms:created>
  <dcterms:modified xsi:type="dcterms:W3CDTF">2026-09-26T14:29:01.5120000Z</dcterms:modified>
</coreProperties>
</file>