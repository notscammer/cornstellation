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Low-yield plots found</c:v>
          </c:tx>
          <c:spPr>
            <a:solidFill>
              <a:srgbClr val="008BCD"/>
            </a:solidFill>
          </c:spPr>
          <c:invertIfNegative val="1"/>
          <c:dPt>
            <c:idx val="0"/>
            <c:invertIfNegative val="0"/>
            <c:bubble3D val="0"/>
            <c:spPr>
              <a:solidFill>
                <a:srgbClr val="809B9A"/>
              </a:solidFill>
            </c:spPr>
            <c:extLst>
              <c:ext xmlns:c16="http://schemas.microsoft.com/office/drawing/2014/chart" uri="{C3380CC4-5D6E-409C-BE32-E72D297353CC}">
                <c16:uniqueId val="{00000001-82B5-422B-83B8-28BE87CC3ABF}"/>
              </c:ext>
            </c:extLst>
          </c:dPt>
          <c:dPt>
            <c:idx val="1"/>
            <c:invertIfNegative val="0"/>
            <c:bubble3D val="0"/>
            <c:spPr>
              <a:solidFill>
                <a:srgbClr val="237047"/>
              </a:solidFill>
            </c:spPr>
            <c:extLst>
              <c:ext xmlns:c16="http://schemas.microsoft.com/office/drawing/2014/chart" uri="{C3380CC4-5D6E-409C-BE32-E72D297353CC}">
                <c16:uniqueId val="{00000003-82B5-422B-83B8-28BE87CC3ABF}"/>
              </c:ext>
            </c:extLst>
          </c:dPt>
          <c:dLbls>
            <c:spPr>
              <a:noFill/>
              <a:ln>
                <a:noFill/>
              </a:ln>
              <a:effectLst/>
            </c:spPr>
            <c:txPr>
              <a:bodyPr anchorCtr="1"/>
              <a:lstStyle/>
              <a:p>
                <a:pPr>
                  <a:defRPr sz="2250">
                    <a:solidFill>
                      <a:srgbClr val="073A63"/>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Agronomy only</c:v>
                </c:pt>
                <c:pt idx="1">
                  <c:v>Agronomy + satellite</c:v>
                </c:pt>
              </c:strCache>
            </c:strRef>
          </c:cat>
          <c:val>
            <c:numRef>
              <c:f>'Chart Data'!$B$2:$B$3</c:f>
              <c:numCache>
                <c:formatCode>General</c:formatCode>
                <c:ptCount val="2"/>
                <c:pt idx="0">
                  <c:v>24</c:v>
                </c:pt>
                <c:pt idx="1">
                  <c:v>30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82B5-422B-83B8-28BE87CC3ABF}"/>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75">
                <a:solidFill>
                  <a:srgbClr val="183847"/>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0"/>
        </c:scaling>
        <c:delete val="0"/>
        <c:axPos val="b"/>
        <c:majorGridlines>
          <c:spPr>
            <a:ln w="9525">
              <a:solidFill>
                <a:srgbClr val="DFE7E5"/>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650">
                <a:solidFill>
                  <a:srgbClr val="58706F"/>
                </a:solidFill>
                <a:latin typeface="Arial"/>
                <a:ea typeface="Arial"/>
                <a:cs typeface="Arial"/>
              </a:defRPr>
            </a:pPr>
            <a:endParaRPr lang="en-US"/>
          </a:p>
        </c:txPr>
        <c:crossAx val="48650112"/>
        <c:crosses val="autoZero"/>
        <c:crossBetween val="between"/>
        <c:majorUnit val="1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0:00–0:20 (20 seconds)</a:t>
            </a:r>
          </a:p>
          <a:p>
            <a:endParaRPr/>
          </a:p>
          <a:p>
            <a:r>
              <a:t>A scouting crew starts the morning with more research plots than it can visit. Which ones deserve a closer look? We built FieldSignal Morning Briefing to combine agronomic records and satellite observations into a suggested inspection list, with the evidence behind each choice.</a:t>
            </a:r>
          </a:p>
          <a:p>
            <a:endParaRPr/>
          </a:p>
          <a:p>
            <a:r>
              <a:t>Sources (not spoken): Presentation (1).pptx, slides 2–3. Original FieldSignal logo from the supplied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0:20–0:45 (25 seconds)</a:t>
            </a:r>
          </a:p>
          <a:p>
            <a:endParaRPr/>
          </a:p>
          <a:p>
            <a:r>
              <a:t>Our prototype covers 2,131 labeled research plots across five locations in Nebraska and Iowa. Visiting every plot is difficult when scouting time is limited. Crews need a way to focus attention before harvest. We frame this as a prioritization problem: where to inspect first, then what to check when they arrive.</a:t>
            </a:r>
          </a:p>
          <a:p>
            <a:endParaRPr/>
          </a:p>
          <a:p>
            <a:r>
              <a:t>Sources (not spoken): Presentation (1).pptx, slide 2; README.md; deliverables/IoT4Ag/tables/model_comparison.csv, Overall cohort.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0:45–1:10 (25 seconds)</a:t>
            </a:r>
          </a:p>
          <a:p>
            <a:endParaRPr/>
          </a:p>
          <a:p>
            <a:r>
              <a:t>FieldSignal organizes the decision into a morning briefing. It combines the available data, suggests a site order, and identifies plots within each site. The crew sets how many plots it can visit. The output includes the forecast, recent satellite context and a reason to inspect, plus a downloadable list for use in the field.</a:t>
            </a:r>
          </a:p>
          <a:p>
            <a:endParaRPr/>
          </a:p>
          <a:p>
            <a:r>
              <a:t>Sources (not spoken): Presentation (1).pptx, slides 3, 5–6; README.md, Scouting plan description. Original workflow artwork from the supplied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1:10–1:40 (30 seconds)</a:t>
            </a:r>
          </a:p>
          <a:p>
            <a:endParaRPr/>
          </a:p>
          <a:p>
            <a:r>
              <a:t>The model uses planting date, hybrid and management records, together with satellite observations available by the selected cutoff. In the scouting-plan view, a candidate flag combines a bottom-twenty-percent yield forecast with a drop of at least twenty within-site percentile points compared with the agronomy-only model. Sites rank by the share flagged. This rule is a prototype, and scouts still need to confirm what is happening.</a:t>
            </a:r>
          </a:p>
          <a:p>
            <a:endParaRPr/>
          </a:p>
          <a:p>
            <a:r>
              <a:t>For questions: CatBoost predicts yield. Agronomy inputs are planting day-of-year, nitrogen, irrigation and genotype. Satellite inputs include spectral summaries, NDVI/NDRE, recent changes and observation age. The site-priority and anomaly ordering has not been evaluated.</a:t>
            </a:r>
          </a:p>
          <a:p>
            <a:endParaRPr/>
          </a:p>
          <a:p>
            <a:r>
              <a:t>Sources (not spoken): README.md, Scouting plan and Scientific interpretation; scouting_plan.py.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1:40–2:10 (30 seconds)</a:t>
            </a:r>
          </a:p>
          <a:p>
            <a:endParaRPr/>
          </a:p>
          <a:p>
            <a:r>
              <a:t>Here is the briefing in action. In this historical replay, Crawfordsville is the suggested first stop, with 88 plots flagged, or eighteen percent of that site. Using a share prevents a large site from automatically taking first place. The crew can open the site to see the first three plot summaries and download an inspection list that fits its capacity.</a:t>
            </a:r>
          </a:p>
          <a:p>
            <a:endParaRPr/>
          </a:p>
          <a:p>
            <a:r>
              <a:t>This screenshot is an illustrative historical replay, not a live alert. Its site-ordering rule has not been validated.</a:t>
            </a:r>
          </a:p>
          <a:p>
            <a:endParaRPr/>
          </a:p>
          <a:p>
            <a:r>
              <a:t>Sources (not spoken): Presentation (1).pptx, slide 6, original embedded dashboard screenshot image5.jpeg.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2:10–2:45 (35 seconds)</a:t>
            </a:r>
          </a:p>
          <a:p>
            <a:endParaRPr/>
          </a:p>
          <a:p>
            <a:r>
              <a:t>The first summary identifies the exact plot: experiment 4351, range twelve, row twenty, with hybrid WF9 by H95. Its predicted yield is 118.9 bushels per acre, and the recent vegetation index has declined. Those signals tell the crew why this plot deserves attention. The image is five days old, so timing is visible too. A scout can now inspect crop condition and record findings. The forecast alone cannot tell us the cause or the right treatment.</a:t>
            </a:r>
          </a:p>
          <a:p>
            <a:endParaRPr/>
          </a:p>
          <a:p>
            <a:r>
              <a:t>Shown replay date: July 25, 2022. NDVI change is −0.031. The dashboard identifies this as one of the lowest predicted yields at the site.</a:t>
            </a:r>
          </a:p>
          <a:p>
            <a:endParaRPr/>
          </a:p>
          <a:p>
            <a:r>
              <a:t>Sources (not spoken): Presentation (1).pptx, slide 6, original embedded dashboard screenshot image4.jpeg.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2:45–3:30 (45 seconds)</a:t>
            </a:r>
          </a:p>
          <a:p>
            <a:endParaRPr/>
          </a:p>
          <a:p>
            <a:r>
              <a:t>We also tested a simpler inspection rule: visit the ten lowest yield forecasts at each site. Each test location was excluded from model training. At day seventy-five, agronomic records alone found 24 plots that later finished in their site’s bottom twenty percent. Adding satellite observations found thirty, using the same fifty visits. That is six additional low-yield plots and sixty percent precision. It still finds only seven percent of all low-yield plots. This result supports prioritization in these trials. It does not validate the demo’s newer anomaly ordering, prove a stress diagnosis, or establish performance in another season.</a:t>
            </a:r>
          </a:p>
          <a:p>
            <a:endParaRPr/>
          </a:p>
          <a:p>
            <a:r>
              <a:t>Low yield is the actual within-site bottom 20% at harvest. Five leave-one-location-out folds use the same cohort. Combined precision is 30/50 = 60%; recall is 30/428 = 7.0%. Harvest labels enter evaluation only.</a:t>
            </a:r>
          </a:p>
          <a:p>
            <a:endParaRPr/>
          </a:p>
          <a:p>
            <a:r>
              <a:t>Sources (not spoken): deliverables/IoT4Ag/tables/model_comparison.csv, cutoff=75, location=Overall, agronomy and combined. Hits 24 and 30, k=50, target_n=428, n=2131. README.md distinguishes the unvalidated Scouting plan ordering from the evaluated lowest-yield-first list.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3:30–4:00 (30 seconds)</a:t>
            </a:r>
          </a:p>
          <a:p>
            <a:endParaRPr/>
          </a:p>
          <a:p>
            <a:r>
              <a:t>FieldSignal gives the crew a focused starting point: a site to visit, a plot list and evidence to guide inspection. The prototype also keeps hybrid performance available for longer-term trial decisions. Our next step is to test the briefing with a scouting crew, record what they find, and validate the forecasts on another season. The goal is to make limited scouting time more useful, while keeping field judgment central.</a:t>
            </a:r>
          </a:p>
          <a:p>
            <a:endParaRPr/>
          </a:p>
          <a:p>
            <a:r>
              <a:t>Sources (not spoken): Presentation (1).pptx, slides 7–8; README.md; deliverables/IoT4Ag/FieldSignal_scope_and_demo.md.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7707A-F51B-4452-A872-84EC58446EA5}"/>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5FCD0E03-7140-4142-B9C7-793ADCD4EC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F9C638EA-7254-4C02-B7F8-158DA59AA0F2}"/>
              </a:ext>
            </a:extLst>
          </p:cNvPr>
          <p:cNvSpPr>
            <a:spLocks noGrp="1"/>
          </p:cNvSpPr>
          <p:nvPr>
            <p:ph type="dt" idx="10"/>
          </p:nvPr>
        </p:nvSpPr>
        <p:spPr/>
        <p:txBody>
          <a:bodyPr/>
          <a:lstStyle/>
          <a:p>
            <a:fld id="{846CE7D5-CF57-46EF-B807-FDD0502418D4}" type="datetimeFigureOut">
              <a:t>9/26/2026</a:t>
            </a:fld>
            <a:endParaRPr/>
          </a:p>
        </p:txBody>
      </p:sp>
      <p:sp>
        <p:nvSpPr>
          <p:cNvPr id="5" name="Footer Placeholder 4">
            <a:extLst>
              <a:ext uri="{FF2B5EF4-FFF2-40B4-BE49-F238E27FC236}">
                <a16:creationId xmlns:a16="http://schemas.microsoft.com/office/drawing/2014/main" id="{D569B6C6-6370-408B-AC6F-1A2AEA73165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DEACDB9-2659-4E35-9FED-D0C393FC7496}"/>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FF82C-D3C2-4A2C-BD5B-B8EED270862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3A5D582A-AD67-4B4F-AE45-1948AE2D18C3}"/>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33757BA-403C-4369-9E0E-548B59D13F71}"/>
              </a:ext>
            </a:extLst>
          </p:cNvPr>
          <p:cNvSpPr>
            <a:spLocks noGrp="1"/>
          </p:cNvSpPr>
          <p:nvPr>
            <p:ph type="dt" idx="10"/>
          </p:nvPr>
        </p:nvSpPr>
        <p:spPr/>
        <p:txBody>
          <a:bodyPr/>
          <a:lstStyle/>
          <a:p>
            <a:fld id="{846CE7D5-CF57-46EF-B807-FDD0502418D4}" type="datetimeFigureOut">
              <a:t>9/26/2026</a:t>
            </a:fld>
            <a:endParaRPr/>
          </a:p>
        </p:txBody>
      </p:sp>
      <p:sp>
        <p:nvSpPr>
          <p:cNvPr id="5" name="Footer Placeholder 4">
            <a:extLst>
              <a:ext uri="{FF2B5EF4-FFF2-40B4-BE49-F238E27FC236}">
                <a16:creationId xmlns:a16="http://schemas.microsoft.com/office/drawing/2014/main" id="{5BC6533A-CF25-4592-9573-B54167595A1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48F3EA2-7941-42C8-9605-610BCE463DFC}"/>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68A4-AC1B-4A99-BEB1-DB3422FE27FF}"/>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FFAB269F-5B0F-45F0-A3F4-D08C83E69C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55818F74-EE12-4278-8073-9ECD9E121939}"/>
              </a:ext>
            </a:extLst>
          </p:cNvPr>
          <p:cNvSpPr>
            <a:spLocks noGrp="1"/>
          </p:cNvSpPr>
          <p:nvPr>
            <p:ph type="dt" idx="10"/>
          </p:nvPr>
        </p:nvSpPr>
        <p:spPr/>
        <p:txBody>
          <a:bodyPr/>
          <a:lstStyle/>
          <a:p>
            <a:fld id="{846CE7D5-CF57-46EF-B807-FDD0502418D4}" type="datetimeFigureOut">
              <a:t>9/26/2026</a:t>
            </a:fld>
            <a:endParaRPr/>
          </a:p>
        </p:txBody>
      </p:sp>
      <p:sp>
        <p:nvSpPr>
          <p:cNvPr id="5" name="Footer Placeholder 4">
            <a:extLst>
              <a:ext uri="{FF2B5EF4-FFF2-40B4-BE49-F238E27FC236}">
                <a16:creationId xmlns:a16="http://schemas.microsoft.com/office/drawing/2014/main" id="{D3B1E2D4-8859-485E-9B0A-F628AC4BF5B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F97D61F-9B2E-45BF-BE98-77845BB8B76A}"/>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F203A-A4D6-4FB1-9D1F-8D06DA243D4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676670C-1EBB-4D68-99E9-951B77EC99EB}"/>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FA76462D-861D-4BFE-B225-9A496D71B5AE}"/>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A195B0CC-EC74-4E4D-B74F-CB963427B1A0}"/>
              </a:ext>
            </a:extLst>
          </p:cNvPr>
          <p:cNvSpPr>
            <a:spLocks noGrp="1"/>
          </p:cNvSpPr>
          <p:nvPr>
            <p:ph type="dt" idx="10"/>
          </p:nvPr>
        </p:nvSpPr>
        <p:spPr/>
        <p:txBody>
          <a:bodyPr/>
          <a:lstStyle/>
          <a:p>
            <a:fld id="{846CE7D5-CF57-46EF-B807-FDD0502418D4}" type="datetimeFigureOut">
              <a:t>9/26/2026</a:t>
            </a:fld>
            <a:endParaRPr/>
          </a:p>
        </p:txBody>
      </p:sp>
      <p:sp>
        <p:nvSpPr>
          <p:cNvPr id="6" name="Footer Placeholder 5">
            <a:extLst>
              <a:ext uri="{FF2B5EF4-FFF2-40B4-BE49-F238E27FC236}">
                <a16:creationId xmlns:a16="http://schemas.microsoft.com/office/drawing/2014/main" id="{20F163BE-114D-491C-946C-3415D002706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E97BF8E-7B68-4170-8C56-757706E6A2F5}"/>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CDF2-0DE7-4F79-9D0A-1FAEE1CCB25A}"/>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DC536B78-D622-421E-85B9-DD82444BE0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3CD2EADB-C8CB-40EE-90AC-1D559F38B758}"/>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3DCF4BB-23A1-433E-9D77-A6FEC7064D2D}"/>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B7735030-A200-475D-A03D-2C644E5959E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87BA3F8-8C14-4D85-BB77-EF2D4C85199A}"/>
              </a:ext>
            </a:extLst>
          </p:cNvPr>
          <p:cNvSpPr>
            <a:spLocks noGrp="1"/>
          </p:cNvSpPr>
          <p:nvPr>
            <p:ph type="dt" idx="10"/>
          </p:nvPr>
        </p:nvSpPr>
        <p:spPr/>
        <p:txBody>
          <a:bodyPr/>
          <a:lstStyle/>
          <a:p>
            <a:fld id="{846CE7D5-CF57-46EF-B807-FDD0502418D4}" type="datetimeFigureOut">
              <a:t>9/26/2026</a:t>
            </a:fld>
            <a:endParaRPr/>
          </a:p>
        </p:txBody>
      </p:sp>
      <p:sp>
        <p:nvSpPr>
          <p:cNvPr id="8" name="Footer Placeholder 7">
            <a:extLst>
              <a:ext uri="{FF2B5EF4-FFF2-40B4-BE49-F238E27FC236}">
                <a16:creationId xmlns:a16="http://schemas.microsoft.com/office/drawing/2014/main" id="{CFCF02DD-CE48-47E7-BFC9-5AF4E7B7135D}"/>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21A597CC-A6D3-4D10-9505-83368B201557}"/>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A48BA-9A67-40B9-AF97-C55CF4B4DB8A}"/>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FD69FF24-C705-4581-AEE1-720F0AEBDBFD}"/>
              </a:ext>
            </a:extLst>
          </p:cNvPr>
          <p:cNvSpPr>
            <a:spLocks noGrp="1"/>
          </p:cNvSpPr>
          <p:nvPr>
            <p:ph type="dt" idx="10"/>
          </p:nvPr>
        </p:nvSpPr>
        <p:spPr/>
        <p:txBody>
          <a:bodyPr/>
          <a:lstStyle/>
          <a:p>
            <a:fld id="{846CE7D5-CF57-46EF-B807-FDD0502418D4}" type="datetimeFigureOut">
              <a:t>9/26/2026</a:t>
            </a:fld>
            <a:endParaRPr/>
          </a:p>
        </p:txBody>
      </p:sp>
      <p:sp>
        <p:nvSpPr>
          <p:cNvPr id="4" name="Footer Placeholder 3">
            <a:extLst>
              <a:ext uri="{FF2B5EF4-FFF2-40B4-BE49-F238E27FC236}">
                <a16:creationId xmlns:a16="http://schemas.microsoft.com/office/drawing/2014/main" id="{70D664FA-67F9-49DF-B505-EF1B0375363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50334F2E-7722-479A-9FF6-87A0F562C70C}"/>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9DE294-B400-4378-B047-47400672D974}"/>
              </a:ext>
            </a:extLst>
          </p:cNvPr>
          <p:cNvSpPr>
            <a:spLocks noGrp="1"/>
          </p:cNvSpPr>
          <p:nvPr>
            <p:ph type="dt" idx="10"/>
          </p:nvPr>
        </p:nvSpPr>
        <p:spPr/>
        <p:txBody>
          <a:bodyPr/>
          <a:lstStyle/>
          <a:p>
            <a:fld id="{846CE7D5-CF57-46EF-B807-FDD0502418D4}" type="datetimeFigureOut">
              <a:t>9/26/2026</a:t>
            </a:fld>
            <a:endParaRPr/>
          </a:p>
        </p:txBody>
      </p:sp>
      <p:sp>
        <p:nvSpPr>
          <p:cNvPr id="3" name="Footer Placeholder 2">
            <a:extLst>
              <a:ext uri="{FF2B5EF4-FFF2-40B4-BE49-F238E27FC236}">
                <a16:creationId xmlns:a16="http://schemas.microsoft.com/office/drawing/2014/main" id="{61DFF76B-2453-44A7-AA66-771C02B3F7A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AFBA0D2A-009B-48C8-B4B0-606950A82AC5}"/>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92DFB-9DF7-476C-A580-2E36EB48A50F}"/>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D5C06916-F45F-48F8-B5BE-290C5B0829B5}"/>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19FEDE63-5BEE-41AC-9756-CACECC0346A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76187CE7-7264-4542-BC4D-43D7923E17F3}"/>
              </a:ext>
            </a:extLst>
          </p:cNvPr>
          <p:cNvSpPr>
            <a:spLocks noGrp="1"/>
          </p:cNvSpPr>
          <p:nvPr>
            <p:ph type="dt" idx="10"/>
          </p:nvPr>
        </p:nvSpPr>
        <p:spPr/>
        <p:txBody>
          <a:bodyPr/>
          <a:lstStyle/>
          <a:p>
            <a:fld id="{846CE7D5-CF57-46EF-B807-FDD0502418D4}" type="datetimeFigureOut">
              <a:t>9/26/2026</a:t>
            </a:fld>
            <a:endParaRPr/>
          </a:p>
        </p:txBody>
      </p:sp>
      <p:sp>
        <p:nvSpPr>
          <p:cNvPr id="6" name="Footer Placeholder 5">
            <a:extLst>
              <a:ext uri="{FF2B5EF4-FFF2-40B4-BE49-F238E27FC236}">
                <a16:creationId xmlns:a16="http://schemas.microsoft.com/office/drawing/2014/main" id="{641EFFF6-BBA8-49B8-B720-BCB94BFF557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0F75E15-84BB-4CB9-B230-4089C6706E19}"/>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2A6DF-EFE1-4942-84EF-C020C7ED22B2}"/>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BBE98561-35C4-4484-BC1E-78C03ECBED29}"/>
              </a:ext>
            </a:extLst>
          </p:cNvPr>
          <p:cNvSpPr>
            <a:spLocks noGrp="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A67A7F2-CF48-4136-86AB-D403642509D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67E1B5B-0390-4813-BA4D-75AA892B6013}"/>
              </a:ext>
            </a:extLst>
          </p:cNvPr>
          <p:cNvSpPr>
            <a:spLocks noGrp="1"/>
          </p:cNvSpPr>
          <p:nvPr>
            <p:ph type="dt" idx="10"/>
          </p:nvPr>
        </p:nvSpPr>
        <p:spPr/>
        <p:txBody>
          <a:bodyPr/>
          <a:lstStyle/>
          <a:p>
            <a:fld id="{846CE7D5-CF57-46EF-B807-FDD0502418D4}" type="datetimeFigureOut">
              <a:t>9/26/2026</a:t>
            </a:fld>
            <a:endParaRPr/>
          </a:p>
        </p:txBody>
      </p:sp>
      <p:sp>
        <p:nvSpPr>
          <p:cNvPr id="6" name="Footer Placeholder 5">
            <a:extLst>
              <a:ext uri="{FF2B5EF4-FFF2-40B4-BE49-F238E27FC236}">
                <a16:creationId xmlns:a16="http://schemas.microsoft.com/office/drawing/2014/main" id="{77D7E4D8-8165-4AC4-B949-B692088EE85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4B1589A-54D6-41BD-94D8-4BF115CCCF63}"/>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8FE0-27D4-4B31-A519-DF05EE85B6F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14B23D7-45E7-43D4-A353-D8F18020360A}"/>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982DF95-B82A-4A48-B05F-927ECDC9AA20}"/>
              </a:ext>
            </a:extLst>
          </p:cNvPr>
          <p:cNvSpPr>
            <a:spLocks noGrp="1"/>
          </p:cNvSpPr>
          <p:nvPr>
            <p:ph type="dt" idx="10"/>
          </p:nvPr>
        </p:nvSpPr>
        <p:spPr/>
        <p:txBody>
          <a:bodyPr/>
          <a:lstStyle/>
          <a:p>
            <a:fld id="{846CE7D5-CF57-46EF-B807-FDD0502418D4}" type="datetimeFigureOut">
              <a:t>9/26/2026</a:t>
            </a:fld>
            <a:endParaRPr/>
          </a:p>
        </p:txBody>
      </p:sp>
      <p:sp>
        <p:nvSpPr>
          <p:cNvPr id="5" name="Footer Placeholder 4">
            <a:extLst>
              <a:ext uri="{FF2B5EF4-FFF2-40B4-BE49-F238E27FC236}">
                <a16:creationId xmlns:a16="http://schemas.microsoft.com/office/drawing/2014/main" id="{80C635C7-2FD0-44FC-96AB-E374DD6079A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8723A6F-524E-41E1-89B6-C848E46A833B}"/>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9F7B07-17AA-475C-AB56-370B18569915}"/>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A70EF794-24FB-484D-9879-C2D03699C69B}"/>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6D1EC15-3122-4601-9C0F-6F050F619AB3}"/>
              </a:ext>
            </a:extLst>
          </p:cNvPr>
          <p:cNvSpPr>
            <a:spLocks noGrp="1"/>
          </p:cNvSpPr>
          <p:nvPr>
            <p:ph type="dt" idx="10"/>
          </p:nvPr>
        </p:nvSpPr>
        <p:spPr/>
        <p:txBody>
          <a:bodyPr/>
          <a:lstStyle/>
          <a:p>
            <a:fld id="{846CE7D5-CF57-46EF-B807-FDD0502418D4}" type="datetimeFigureOut">
              <a:t>9/26/2026</a:t>
            </a:fld>
            <a:endParaRPr/>
          </a:p>
        </p:txBody>
      </p:sp>
      <p:sp>
        <p:nvSpPr>
          <p:cNvPr id="5" name="Footer Placeholder 4">
            <a:extLst>
              <a:ext uri="{FF2B5EF4-FFF2-40B4-BE49-F238E27FC236}">
                <a16:creationId xmlns:a16="http://schemas.microsoft.com/office/drawing/2014/main" id="{AA722219-112D-4CCE-9298-D1F2C10FF2A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FC43411-F1BB-457E-9198-ED667F5274C3}"/>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742B22-263D-4F79-8D2C-2C4EDD2219D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053F4EB-0F9F-434B-B959-B2E30CC929D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9B3E34-EB8C-4FF0-80B8-497374CFCBE8}"/>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846CE7D5-CF57-46EF-B807-FDD0502418D4}" type="datetimeFigureOut">
              <a:t>9/26/2026</a:t>
            </a:fld>
            <a:endParaRPr/>
          </a:p>
        </p:txBody>
      </p:sp>
      <p:sp>
        <p:nvSpPr>
          <p:cNvPr id="5" name="Footer Placeholder 4">
            <a:extLst>
              <a:ext uri="{FF2B5EF4-FFF2-40B4-BE49-F238E27FC236}">
                <a16:creationId xmlns:a16="http://schemas.microsoft.com/office/drawing/2014/main" id="{8BEA8E55-0A69-4E15-9AB5-845A82A74916}"/>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85C7AD71-FD7C-4F93-9EB8-B2B82FA9E77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330EA680-D336-4FF7-8B7A-9848BB0A1C32}"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84EC997-0FF1-4599-AA71-3D9D222BB7EA}"/>
              </a:ext>
            </a:extLst>
          </p:cNvPr>
          <p:cNvSpPr>
            <a:spLocks noGrp="1"/>
          </p:cNvSpPr>
          <p:nvPr/>
        </p:nvSpPr>
        <p:spPr>
          <a:xfrm>
            <a:off x="609600" y="609600"/>
            <a:ext cx="6477000" cy="857250"/>
          </a:xfrm>
          <a:prstGeom prst="rect">
            <a:avLst/>
          </a:prstGeom>
          <a:noFill/>
          <a:ln w="0">
            <a:noFill/>
          </a:ln>
        </p:spPr>
        <p:txBody>
          <a:bodyPr anchor="ctr">
            <a:noAutofit/>
          </a:bodyPr>
          <a:lstStyle/>
          <a:p>
            <a:pPr>
              <a:defRPr sz="5400" b="1">
                <a:solidFill>
                  <a:srgbClr val="073A63"/>
                </a:solidFill>
                <a:latin typeface="Arial"/>
                <a:ea typeface="Arial"/>
                <a:cs typeface="Arial"/>
              </a:defRPr>
            </a:pPr>
            <a:r>
              <a:rPr sz="5400" b="1">
                <a:solidFill>
                  <a:srgbClr val="073A63"/>
                </a:solidFill>
                <a:latin typeface="Arial"/>
                <a:ea typeface="Arial"/>
                <a:cs typeface="Arial"/>
              </a:rPr>
              <a:t>FieldSignal</a:t>
            </a:r>
          </a:p>
        </p:txBody>
      </p:sp>
      <p:sp>
        <p:nvSpPr>
          <p:cNvPr id="2" name="Rectangle 1">
            <a:extLst>
              <a:ext uri="{FF2B5EF4-FFF2-40B4-BE49-F238E27FC236}">
                <a16:creationId xmlns:a16="http://schemas.microsoft.com/office/drawing/2014/main" id="{E263AA66-1659-44C7-BD24-6C14CF5A3160}"/>
              </a:ext>
            </a:extLst>
          </p:cNvPr>
          <p:cNvSpPr>
            <a:spLocks noGrp="1"/>
          </p:cNvSpPr>
          <p:nvPr/>
        </p:nvSpPr>
        <p:spPr>
          <a:xfrm>
            <a:off x="647700" y="1581150"/>
            <a:ext cx="6477000" cy="619125"/>
          </a:xfrm>
          <a:prstGeom prst="rect">
            <a:avLst/>
          </a:prstGeom>
          <a:noFill/>
          <a:ln w="0">
            <a:noFill/>
          </a:ln>
        </p:spPr>
        <p:txBody>
          <a:bodyPr anchor="ctr">
            <a:noAutofit/>
          </a:bodyPr>
          <a:lstStyle/>
          <a:p>
            <a:pPr>
              <a:defRPr sz="3300" b="1">
                <a:solidFill>
                  <a:srgbClr val="237047"/>
                </a:solidFill>
                <a:latin typeface="Arial"/>
                <a:ea typeface="Arial"/>
                <a:cs typeface="Arial"/>
              </a:defRPr>
            </a:pPr>
            <a:r>
              <a:rPr sz="3300" b="1">
                <a:solidFill>
                  <a:srgbClr val="237047"/>
                </a:solidFill>
                <a:latin typeface="Arial"/>
                <a:ea typeface="Arial"/>
                <a:cs typeface="Arial"/>
              </a:rPr>
              <a:t>Morning Briefing</a:t>
            </a:r>
          </a:p>
        </p:txBody>
      </p:sp>
      <p:sp>
        <p:nvSpPr>
          <p:cNvPr id="3" name="Rectangle 2">
            <a:extLst>
              <a:ext uri="{FF2B5EF4-FFF2-40B4-BE49-F238E27FC236}">
                <a16:creationId xmlns:a16="http://schemas.microsoft.com/office/drawing/2014/main" id="{96290C8D-67F9-474F-9083-3C1347765C07}"/>
              </a:ext>
            </a:extLst>
          </p:cNvPr>
          <p:cNvSpPr>
            <a:spLocks noGrp="1"/>
          </p:cNvSpPr>
          <p:nvPr/>
        </p:nvSpPr>
        <p:spPr>
          <a:xfrm>
            <a:off x="647700" y="2686050"/>
            <a:ext cx="6429375" cy="1524000"/>
          </a:xfrm>
          <a:prstGeom prst="rect">
            <a:avLst/>
          </a:prstGeom>
          <a:noFill/>
          <a:ln w="0">
            <a:noFill/>
          </a:ln>
        </p:spPr>
        <p:txBody>
          <a:bodyPr anchor="ctr">
            <a:noAutofit/>
          </a:bodyPr>
          <a:lstStyle/>
          <a:p>
            <a:pPr>
              <a:defRPr sz="3450" b="0">
                <a:solidFill>
                  <a:srgbClr val="183847"/>
                </a:solidFill>
                <a:latin typeface="Arial"/>
                <a:ea typeface="Arial"/>
                <a:cs typeface="Arial"/>
              </a:defRPr>
            </a:pPr>
            <a:r>
              <a:rPr sz="3450" b="0">
                <a:solidFill>
                  <a:srgbClr val="183847"/>
                </a:solidFill>
                <a:latin typeface="Arial"/>
                <a:ea typeface="Arial"/>
                <a:cs typeface="Arial"/>
              </a:rPr>
              <a:t>Which research plots</a:t>
            </a:r>
          </a:p>
          <a:p>
            <a:pPr>
              <a:defRPr sz="3450" b="0">
                <a:solidFill>
                  <a:srgbClr val="183847"/>
                </a:solidFill>
                <a:latin typeface="Arial"/>
                <a:ea typeface="Arial"/>
                <a:cs typeface="Arial"/>
              </a:defRPr>
            </a:pPr>
            <a:r>
              <a:rPr sz="3450" b="0">
                <a:solidFill>
                  <a:srgbClr val="183847"/>
                </a:solidFill>
                <a:latin typeface="Arial"/>
                <a:ea typeface="Arial"/>
                <a:cs typeface="Arial"/>
              </a:rPr>
              <a:t>need a closer look today?</a:t>
            </a:r>
          </a:p>
        </p:txBody>
      </p:sp>
      <p:sp>
        <p:nvSpPr>
          <p:cNvPr id="4" name="Rectangle 3">
            <a:extLst>
              <a:ext uri="{FF2B5EF4-FFF2-40B4-BE49-F238E27FC236}">
                <a16:creationId xmlns:a16="http://schemas.microsoft.com/office/drawing/2014/main" id="{CC93BD1A-FD5A-4EE5-B3F0-2651B99077FE}"/>
              </a:ext>
            </a:extLst>
          </p:cNvPr>
          <p:cNvSpPr>
            <a:spLocks noGrp="1"/>
          </p:cNvSpPr>
          <p:nvPr/>
        </p:nvSpPr>
        <p:spPr>
          <a:xfrm>
            <a:off x="647700" y="5610225"/>
            <a:ext cx="6667500" cy="419100"/>
          </a:xfrm>
          <a:prstGeom prst="rect">
            <a:avLst/>
          </a:prstGeom>
          <a:noFill/>
          <a:ln w="0">
            <a:noFill/>
          </a:ln>
        </p:spPr>
        <p:txBody>
          <a:bodyPr anchor="ctr">
            <a:noAutofit/>
          </a:bodyPr>
          <a:lstStyle/>
          <a:p>
            <a:pPr>
              <a:defRPr sz="1950" b="0">
                <a:solidFill>
                  <a:srgbClr val="58706F"/>
                </a:solidFill>
                <a:latin typeface="Arial"/>
                <a:ea typeface="Arial"/>
                <a:cs typeface="Arial"/>
              </a:defRPr>
            </a:pPr>
            <a:r>
              <a:rPr sz="1950" b="0">
                <a:solidFill>
                  <a:srgbClr val="58706F"/>
                </a:solidFill>
                <a:latin typeface="Arial"/>
                <a:ea typeface="Arial"/>
                <a:cs typeface="Arial"/>
              </a:rPr>
              <a:t>Cornstellation</a:t>
            </a:r>
          </a:p>
        </p:txBody>
      </p:sp>
      <p:pic>
        <p:nvPicPr>
          <p:cNvPr id="10" name="Picture 9"/>
          <p:cNvPicPr>
            <a:picLocks noChangeAspect="1"/>
          </p:cNvPicPr>
          <p:nvPr/>
        </p:nvPicPr>
        <p:blipFill>
          <a:blip r:embed="rId3"/>
          <a:stretch/>
        </p:blipFill>
        <p:spPr>
          <a:xfrm>
            <a:off x="7448550" y="1790700"/>
            <a:ext cx="4000500" cy="3000375"/>
          </a:xfrm>
          <a:prstGeom prst="rect">
            <a:avLst/>
          </a:prstGeom>
        </p:spPr>
      </p:pic>
    </p:spTree>
    <p:extLst>
      <p:ext uri="{BB962C8B-B14F-4D97-AF65-F5344CB8AC3E}">
        <p14:creationId xmlns:p14="http://schemas.microsoft.com/office/powerpoint/2010/main" val="3217614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D8C34EB-D074-4F1B-B922-DCF527210711}"/>
              </a:ext>
            </a:extLst>
          </p:cNvPr>
          <p:cNvSpPr>
            <a:spLocks noGrp="1"/>
          </p:cNvSpPr>
          <p:nvPr/>
        </p:nvSpPr>
        <p:spPr>
          <a:xfrm>
            <a:off x="609600" y="457200"/>
            <a:ext cx="10972800" cy="1047750"/>
          </a:xfrm>
          <a:prstGeom prst="rect">
            <a:avLst/>
          </a:prstGeom>
          <a:noFill/>
          <a:ln w="0">
            <a:noFill/>
          </a:ln>
        </p:spPr>
        <p:txBody>
          <a:bodyPr anchor="ctr">
            <a:noAutofit/>
          </a:bodyPr>
          <a:lstStyle/>
          <a:p>
            <a:pPr>
              <a:defRPr sz="3600" b="1">
                <a:solidFill>
                  <a:srgbClr val="073A63"/>
                </a:solidFill>
                <a:latin typeface="Arial"/>
                <a:ea typeface="Arial"/>
                <a:cs typeface="Arial"/>
              </a:defRPr>
            </a:pPr>
            <a:r>
              <a:rPr sz="3600" b="1">
                <a:solidFill>
                  <a:srgbClr val="073A63"/>
                </a:solidFill>
                <a:latin typeface="Arial"/>
                <a:ea typeface="Arial"/>
                <a:cs typeface="Arial"/>
              </a:rPr>
              <a:t>Too many plots, limited scouting hours</a:t>
            </a:r>
          </a:p>
        </p:txBody>
      </p:sp>
      <p:sp>
        <p:nvSpPr>
          <p:cNvPr id="2" name="Rectangle 1">
            <a:extLst>
              <a:ext uri="{FF2B5EF4-FFF2-40B4-BE49-F238E27FC236}">
                <a16:creationId xmlns:a16="http://schemas.microsoft.com/office/drawing/2014/main" id="{5C11239D-99EA-4585-BBCC-4F39130592AD}"/>
              </a:ext>
            </a:extLst>
          </p:cNvPr>
          <p:cNvSpPr>
            <a:spLocks noGrp="1"/>
          </p:cNvSpPr>
          <p:nvPr/>
        </p:nvSpPr>
        <p:spPr>
          <a:xfrm>
            <a:off x="609600" y="2009775"/>
            <a:ext cx="10572750" cy="1352550"/>
          </a:xfrm>
          <a:prstGeom prst="rect">
            <a:avLst/>
          </a:prstGeom>
          <a:noFill/>
          <a:ln w="0">
            <a:noFill/>
          </a:ln>
        </p:spPr>
        <p:txBody>
          <a:bodyPr anchor="ctr">
            <a:noAutofit/>
          </a:bodyPr>
          <a:lstStyle/>
          <a:p>
            <a:pPr>
              <a:defRPr sz="3600" b="0">
                <a:solidFill>
                  <a:srgbClr val="183847"/>
                </a:solidFill>
                <a:latin typeface="Arial"/>
                <a:ea typeface="Arial"/>
                <a:cs typeface="Arial"/>
              </a:defRPr>
            </a:pPr>
            <a:r>
              <a:rPr sz="3600" b="0">
                <a:solidFill>
                  <a:srgbClr val="183847"/>
                </a:solidFill>
                <a:latin typeface="Arial"/>
                <a:ea typeface="Arial"/>
                <a:cs typeface="Arial"/>
              </a:rPr>
              <a:t>Crews need to choose where to go</a:t>
            </a:r>
          </a:p>
          <a:p>
            <a:pPr>
              <a:defRPr sz="3600" b="0">
                <a:solidFill>
                  <a:srgbClr val="183847"/>
                </a:solidFill>
                <a:latin typeface="Arial"/>
                <a:ea typeface="Arial"/>
                <a:cs typeface="Arial"/>
              </a:defRPr>
            </a:pPr>
            <a:r>
              <a:rPr sz="3600" b="0">
                <a:solidFill>
                  <a:srgbClr val="183847"/>
                </a:solidFill>
                <a:latin typeface="Arial"/>
                <a:ea typeface="Arial"/>
                <a:cs typeface="Arial"/>
              </a:rPr>
              <a:t>before harvest reveals the outcome.</a:t>
            </a:r>
          </a:p>
        </p:txBody>
      </p:sp>
      <p:sp>
        <p:nvSpPr>
          <p:cNvPr id="3" name="Rectangle 2">
            <a:extLst>
              <a:ext uri="{FF2B5EF4-FFF2-40B4-BE49-F238E27FC236}">
                <a16:creationId xmlns:a16="http://schemas.microsoft.com/office/drawing/2014/main" id="{DC9C1FA7-AC70-4500-BCBA-F112BB9F01B8}"/>
              </a:ext>
            </a:extLst>
          </p:cNvPr>
          <p:cNvSpPr>
            <a:spLocks noGrp="1"/>
          </p:cNvSpPr>
          <p:nvPr/>
        </p:nvSpPr>
        <p:spPr>
          <a:xfrm>
            <a:off x="609600" y="4086225"/>
            <a:ext cx="3190875" cy="847725"/>
          </a:xfrm>
          <a:prstGeom prst="rect">
            <a:avLst/>
          </a:prstGeom>
          <a:noFill/>
          <a:ln w="0">
            <a:noFill/>
          </a:ln>
        </p:spPr>
        <p:txBody>
          <a:bodyPr anchor="ctr">
            <a:noAutofit/>
          </a:bodyPr>
          <a:lstStyle/>
          <a:p>
            <a:pPr>
              <a:defRPr sz="5100" b="1">
                <a:solidFill>
                  <a:srgbClr val="008BCD"/>
                </a:solidFill>
                <a:latin typeface="Arial"/>
                <a:ea typeface="Arial"/>
                <a:cs typeface="Arial"/>
              </a:defRPr>
            </a:pPr>
            <a:r>
              <a:rPr sz="5100" b="1">
                <a:solidFill>
                  <a:srgbClr val="008BCD"/>
                </a:solidFill>
                <a:latin typeface="Arial"/>
                <a:ea typeface="Arial"/>
                <a:cs typeface="Arial"/>
              </a:rPr>
              <a:t>2,131</a:t>
            </a:r>
          </a:p>
        </p:txBody>
      </p:sp>
      <p:sp>
        <p:nvSpPr>
          <p:cNvPr id="4" name="Rectangle 3">
            <a:extLst>
              <a:ext uri="{FF2B5EF4-FFF2-40B4-BE49-F238E27FC236}">
                <a16:creationId xmlns:a16="http://schemas.microsoft.com/office/drawing/2014/main" id="{387CE4E9-7DBC-45C3-BD61-154EC27DD9F6}"/>
              </a:ext>
            </a:extLst>
          </p:cNvPr>
          <p:cNvSpPr>
            <a:spLocks noGrp="1"/>
          </p:cNvSpPr>
          <p:nvPr/>
        </p:nvSpPr>
        <p:spPr>
          <a:xfrm>
            <a:off x="647700" y="5010150"/>
            <a:ext cx="3190875" cy="552450"/>
          </a:xfrm>
          <a:prstGeom prst="rect">
            <a:avLst/>
          </a:prstGeom>
          <a:noFill/>
          <a:ln w="0">
            <a:noFill/>
          </a:ln>
        </p:spPr>
        <p:txBody>
          <a:bodyPr anchor="ctr">
            <a:noAutofit/>
          </a:bodyPr>
          <a:lstStyle/>
          <a:p>
            <a:pPr>
              <a:defRPr sz="2025" b="0">
                <a:solidFill>
                  <a:srgbClr val="58706F"/>
                </a:solidFill>
                <a:latin typeface="Arial"/>
                <a:ea typeface="Arial"/>
                <a:cs typeface="Arial"/>
              </a:defRPr>
            </a:pPr>
            <a:r>
              <a:rPr sz="2025" b="0">
                <a:solidFill>
                  <a:srgbClr val="58706F"/>
                </a:solidFill>
                <a:latin typeface="Arial"/>
                <a:ea typeface="Arial"/>
                <a:cs typeface="Arial"/>
              </a:rPr>
              <a:t>labeled research plots</a:t>
            </a:r>
          </a:p>
        </p:txBody>
      </p:sp>
      <p:sp>
        <p:nvSpPr>
          <p:cNvPr id="5" name="Rectangle 4">
            <a:extLst>
              <a:ext uri="{FF2B5EF4-FFF2-40B4-BE49-F238E27FC236}">
                <a16:creationId xmlns:a16="http://schemas.microsoft.com/office/drawing/2014/main" id="{8E79E8CF-A88E-42FF-909B-7CAE9CB456D1}"/>
              </a:ext>
            </a:extLst>
          </p:cNvPr>
          <p:cNvSpPr>
            <a:spLocks noGrp="1"/>
          </p:cNvSpPr>
          <p:nvPr/>
        </p:nvSpPr>
        <p:spPr>
          <a:xfrm>
            <a:off x="4619625" y="4086225"/>
            <a:ext cx="2762250" cy="847725"/>
          </a:xfrm>
          <a:prstGeom prst="rect">
            <a:avLst/>
          </a:prstGeom>
          <a:noFill/>
          <a:ln w="0">
            <a:noFill/>
          </a:ln>
        </p:spPr>
        <p:txBody>
          <a:bodyPr anchor="ctr">
            <a:noAutofit/>
          </a:bodyPr>
          <a:lstStyle/>
          <a:p>
            <a:pPr>
              <a:defRPr sz="5100" b="1">
                <a:solidFill>
                  <a:srgbClr val="008BCD"/>
                </a:solidFill>
                <a:latin typeface="Arial"/>
                <a:ea typeface="Arial"/>
                <a:cs typeface="Arial"/>
              </a:defRPr>
            </a:pPr>
            <a:r>
              <a:rPr sz="5100" b="1">
                <a:solidFill>
                  <a:srgbClr val="008BCD"/>
                </a:solidFill>
                <a:latin typeface="Arial"/>
                <a:ea typeface="Arial"/>
                <a:cs typeface="Arial"/>
              </a:rPr>
              <a:t>5</a:t>
            </a:r>
          </a:p>
        </p:txBody>
      </p:sp>
      <p:sp>
        <p:nvSpPr>
          <p:cNvPr id="6" name="Rectangle 5">
            <a:extLst>
              <a:ext uri="{FF2B5EF4-FFF2-40B4-BE49-F238E27FC236}">
                <a16:creationId xmlns:a16="http://schemas.microsoft.com/office/drawing/2014/main" id="{61CB0793-66A3-4090-A5C1-67E5656BC5D9}"/>
              </a:ext>
            </a:extLst>
          </p:cNvPr>
          <p:cNvSpPr>
            <a:spLocks noGrp="1"/>
          </p:cNvSpPr>
          <p:nvPr/>
        </p:nvSpPr>
        <p:spPr>
          <a:xfrm>
            <a:off x="4657725" y="5010150"/>
            <a:ext cx="2857500" cy="552450"/>
          </a:xfrm>
          <a:prstGeom prst="rect">
            <a:avLst/>
          </a:prstGeom>
          <a:noFill/>
          <a:ln w="0">
            <a:noFill/>
          </a:ln>
        </p:spPr>
        <p:txBody>
          <a:bodyPr anchor="ctr">
            <a:noAutofit/>
          </a:bodyPr>
          <a:lstStyle/>
          <a:p>
            <a:pPr>
              <a:defRPr sz="2025" b="0">
                <a:solidFill>
                  <a:srgbClr val="58706F"/>
                </a:solidFill>
                <a:latin typeface="Arial"/>
                <a:ea typeface="Arial"/>
                <a:cs typeface="Arial"/>
              </a:defRPr>
            </a:pPr>
            <a:r>
              <a:rPr sz="2025" b="0">
                <a:solidFill>
                  <a:srgbClr val="58706F"/>
                </a:solidFill>
                <a:latin typeface="Arial"/>
                <a:ea typeface="Arial"/>
                <a:cs typeface="Arial"/>
              </a:rPr>
              <a:t>trial locations</a:t>
            </a:r>
          </a:p>
        </p:txBody>
      </p:sp>
      <p:sp>
        <p:nvSpPr>
          <p:cNvPr id="7" name="Rectangle 6">
            <a:extLst>
              <a:ext uri="{FF2B5EF4-FFF2-40B4-BE49-F238E27FC236}">
                <a16:creationId xmlns:a16="http://schemas.microsoft.com/office/drawing/2014/main" id="{58403BDD-951F-445E-BE6E-D260F4B29FE0}"/>
              </a:ext>
            </a:extLst>
          </p:cNvPr>
          <p:cNvSpPr>
            <a:spLocks noGrp="1"/>
          </p:cNvSpPr>
          <p:nvPr/>
        </p:nvSpPr>
        <p:spPr>
          <a:xfrm>
            <a:off x="8620125" y="4086225"/>
            <a:ext cx="2857500" cy="847725"/>
          </a:xfrm>
          <a:prstGeom prst="rect">
            <a:avLst/>
          </a:prstGeom>
          <a:noFill/>
          <a:ln w="0">
            <a:noFill/>
          </a:ln>
        </p:spPr>
        <p:txBody>
          <a:bodyPr anchor="ctr">
            <a:noAutofit/>
          </a:bodyPr>
          <a:lstStyle/>
          <a:p>
            <a:pPr>
              <a:defRPr sz="5100" b="1">
                <a:solidFill>
                  <a:srgbClr val="008BCD"/>
                </a:solidFill>
                <a:latin typeface="Arial"/>
                <a:ea typeface="Arial"/>
                <a:cs typeface="Arial"/>
              </a:defRPr>
            </a:pPr>
            <a:r>
              <a:rPr sz="5100" b="1">
                <a:solidFill>
                  <a:srgbClr val="008BCD"/>
                </a:solidFill>
                <a:latin typeface="Arial"/>
                <a:ea typeface="Arial"/>
                <a:cs typeface="Arial"/>
              </a:rPr>
              <a:t>2022</a:t>
            </a:r>
          </a:p>
        </p:txBody>
      </p:sp>
      <p:sp>
        <p:nvSpPr>
          <p:cNvPr id="8" name="Rectangle 7">
            <a:extLst>
              <a:ext uri="{FF2B5EF4-FFF2-40B4-BE49-F238E27FC236}">
                <a16:creationId xmlns:a16="http://schemas.microsoft.com/office/drawing/2014/main" id="{B22C2063-E63D-4969-8A54-425B34D667F2}"/>
              </a:ext>
            </a:extLst>
          </p:cNvPr>
          <p:cNvSpPr>
            <a:spLocks noGrp="1"/>
          </p:cNvSpPr>
          <p:nvPr/>
        </p:nvSpPr>
        <p:spPr>
          <a:xfrm>
            <a:off x="8658225" y="5010150"/>
            <a:ext cx="2857500" cy="552450"/>
          </a:xfrm>
          <a:prstGeom prst="rect">
            <a:avLst/>
          </a:prstGeom>
          <a:noFill/>
          <a:ln w="0">
            <a:noFill/>
          </a:ln>
        </p:spPr>
        <p:txBody>
          <a:bodyPr anchor="ctr">
            <a:noAutofit/>
          </a:bodyPr>
          <a:lstStyle/>
          <a:p>
            <a:pPr>
              <a:defRPr sz="2025" b="0">
                <a:solidFill>
                  <a:srgbClr val="58706F"/>
                </a:solidFill>
                <a:latin typeface="Arial"/>
                <a:ea typeface="Arial"/>
                <a:cs typeface="Arial"/>
              </a:defRPr>
            </a:pPr>
            <a:r>
              <a:rPr sz="2025" b="0">
                <a:solidFill>
                  <a:srgbClr val="58706F"/>
                </a:solidFill>
                <a:latin typeface="Arial"/>
                <a:ea typeface="Arial"/>
                <a:cs typeface="Arial"/>
              </a:rPr>
              <a:t>season in this prototype</a:t>
            </a:r>
          </a:p>
        </p:txBody>
      </p:sp>
      <p:sp>
        <p:nvSpPr>
          <p:cNvPr id="9" name="Rectangle 8">
            <a:extLst>
              <a:ext uri="{FF2B5EF4-FFF2-40B4-BE49-F238E27FC236}">
                <a16:creationId xmlns:a16="http://schemas.microsoft.com/office/drawing/2014/main" id="{FCDC8303-F886-4786-9C7D-1C5E8CF18776}"/>
              </a:ext>
            </a:extLst>
          </p:cNvPr>
          <p:cNvSpPr>
            <a:spLocks noGrp="1"/>
          </p:cNvSpPr>
          <p:nvPr/>
        </p:nvSpPr>
        <p:spPr>
          <a:xfrm>
            <a:off x="609600" y="6096000"/>
            <a:ext cx="10477500" cy="495300"/>
          </a:xfrm>
          <a:prstGeom prst="rect">
            <a:avLst/>
          </a:prstGeom>
          <a:noFill/>
          <a:ln w="0">
            <a:noFill/>
          </a:ln>
        </p:spPr>
        <p:txBody>
          <a:bodyPr anchor="ctr">
            <a:noAutofit/>
          </a:bodyPr>
          <a:lstStyle/>
          <a:p>
            <a:pPr>
              <a:defRPr sz="1500" b="0">
                <a:solidFill>
                  <a:srgbClr val="58706F"/>
                </a:solidFill>
                <a:latin typeface="Arial"/>
                <a:ea typeface="Arial"/>
                <a:cs typeface="Arial"/>
              </a:defRPr>
            </a:pPr>
            <a:r>
              <a:rPr sz="1500" b="0">
                <a:solidFill>
                  <a:srgbClr val="58706F"/>
                </a:solidFill>
                <a:latin typeface="Arial"/>
                <a:ea typeface="Arial"/>
                <a:cs typeface="Arial"/>
              </a:rPr>
              <a:t>Research trials in Nebraska and Iowa</a:t>
            </a:r>
          </a:p>
        </p:txBody>
      </p:sp>
    </p:spTree>
    <p:extLst>
      <p:ext uri="{BB962C8B-B14F-4D97-AF65-F5344CB8AC3E}">
        <p14:creationId xmlns:p14="http://schemas.microsoft.com/office/powerpoint/2010/main" val="1904104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3F3B2B4-4E78-428F-AFF3-991479FCAF0C}"/>
              </a:ext>
            </a:extLst>
          </p:cNvPr>
          <p:cNvSpPr>
            <a:spLocks noGrp="1"/>
          </p:cNvSpPr>
          <p:nvPr/>
        </p:nvSpPr>
        <p:spPr>
          <a:xfrm>
            <a:off x="609600" y="457200"/>
            <a:ext cx="10972800" cy="1047750"/>
          </a:xfrm>
          <a:prstGeom prst="rect">
            <a:avLst/>
          </a:prstGeom>
          <a:noFill/>
          <a:ln w="0">
            <a:noFill/>
          </a:ln>
        </p:spPr>
        <p:txBody>
          <a:bodyPr anchor="ctr">
            <a:noAutofit/>
          </a:bodyPr>
          <a:lstStyle/>
          <a:p>
            <a:pPr>
              <a:defRPr sz="3600" b="1">
                <a:solidFill>
                  <a:srgbClr val="073A63"/>
                </a:solidFill>
                <a:latin typeface="Arial"/>
                <a:ea typeface="Arial"/>
                <a:cs typeface="Arial"/>
              </a:defRPr>
            </a:pPr>
            <a:r>
              <a:rPr sz="3600" b="1">
                <a:solidFill>
                  <a:srgbClr val="073A63"/>
                </a:solidFill>
                <a:latin typeface="Arial"/>
                <a:ea typeface="Arial"/>
                <a:cs typeface="Arial"/>
              </a:rPr>
              <a:t>The morning briefing</a:t>
            </a:r>
          </a:p>
        </p:txBody>
      </p:sp>
      <p:sp>
        <p:nvSpPr>
          <p:cNvPr id="2" name="Rectangle 1">
            <a:extLst>
              <a:ext uri="{FF2B5EF4-FFF2-40B4-BE49-F238E27FC236}">
                <a16:creationId xmlns:a16="http://schemas.microsoft.com/office/drawing/2014/main" id="{A4595D01-0B04-4B7F-956A-957BE4156E5F}"/>
              </a:ext>
            </a:extLst>
          </p:cNvPr>
          <p:cNvSpPr>
            <a:spLocks noGrp="1"/>
          </p:cNvSpPr>
          <p:nvPr/>
        </p:nvSpPr>
        <p:spPr>
          <a:xfrm>
            <a:off x="609600" y="1571625"/>
            <a:ext cx="10972800" cy="619125"/>
          </a:xfrm>
          <a:prstGeom prst="rect">
            <a:avLst/>
          </a:prstGeom>
          <a:noFill/>
          <a:ln w="0">
            <a:noFill/>
          </a:ln>
        </p:spPr>
        <p:txBody>
          <a:bodyPr anchor="ctr">
            <a:noAutofit/>
          </a:bodyPr>
          <a:lstStyle/>
          <a:p>
            <a:pPr>
              <a:defRPr sz="2250" b="0">
                <a:solidFill>
                  <a:srgbClr val="58706F"/>
                </a:solidFill>
                <a:latin typeface="Arial"/>
                <a:ea typeface="Arial"/>
                <a:cs typeface="Arial"/>
              </a:defRPr>
            </a:pPr>
            <a:r>
              <a:rPr sz="2250" b="0">
                <a:solidFill>
                  <a:srgbClr val="58706F"/>
                </a:solidFill>
                <a:latin typeface="Arial"/>
                <a:ea typeface="Arial"/>
                <a:cs typeface="Arial"/>
              </a:rPr>
              <a:t>A suggested site order and a plot list sized to the crew’s capacity</a:t>
            </a:r>
          </a:p>
        </p:txBody>
      </p:sp>
      <p:pic>
        <p:nvPicPr>
          <p:cNvPr id="7" name="Picture 6"/>
          <p:cNvPicPr>
            <a:picLocks noChangeAspect="1"/>
          </p:cNvPicPr>
          <p:nvPr/>
        </p:nvPicPr>
        <p:blipFill>
          <a:blip r:embed="rId3"/>
          <a:stretch/>
        </p:blipFill>
        <p:spPr>
          <a:xfrm>
            <a:off x="609600" y="2687809"/>
            <a:ext cx="10972800" cy="1920533"/>
          </a:xfrm>
          <a:prstGeom prst="rect">
            <a:avLst/>
          </a:prstGeom>
        </p:spPr>
      </p:pic>
      <p:sp>
        <p:nvSpPr>
          <p:cNvPr id="4" name="Rectangle 3">
            <a:extLst>
              <a:ext uri="{FF2B5EF4-FFF2-40B4-BE49-F238E27FC236}">
                <a16:creationId xmlns:a16="http://schemas.microsoft.com/office/drawing/2014/main" id="{121ECB61-5C2D-4BAE-9C2C-607A19C961D6}"/>
              </a:ext>
            </a:extLst>
          </p:cNvPr>
          <p:cNvSpPr>
            <a:spLocks noGrp="1"/>
          </p:cNvSpPr>
          <p:nvPr/>
        </p:nvSpPr>
        <p:spPr>
          <a:xfrm>
            <a:off x="609600" y="5038725"/>
            <a:ext cx="10972800" cy="876300"/>
          </a:xfrm>
          <a:prstGeom prst="rect">
            <a:avLst/>
          </a:prstGeom>
          <a:noFill/>
          <a:ln w="0">
            <a:noFill/>
          </a:ln>
        </p:spPr>
        <p:txBody>
          <a:bodyPr anchor="ctr">
            <a:noAutofit/>
          </a:bodyPr>
          <a:lstStyle/>
          <a:p>
            <a:pPr>
              <a:defRPr sz="2325" b="1">
                <a:solidFill>
                  <a:srgbClr val="237047"/>
                </a:solidFill>
                <a:latin typeface="Arial"/>
                <a:ea typeface="Arial"/>
                <a:cs typeface="Arial"/>
              </a:defRPr>
            </a:pPr>
            <a:r>
              <a:rPr sz="2325" b="1">
                <a:solidFill>
                  <a:srgbClr val="237047"/>
                </a:solidFill>
                <a:latin typeface="Arial"/>
                <a:ea typeface="Arial"/>
                <a:cs typeface="Arial"/>
              </a:rPr>
              <a:t>Each plot includes a forecast, recent imagery context</a:t>
            </a:r>
          </a:p>
          <a:p>
            <a:pPr>
              <a:defRPr sz="2325" b="1">
                <a:solidFill>
                  <a:srgbClr val="237047"/>
                </a:solidFill>
                <a:latin typeface="Arial"/>
                <a:ea typeface="Arial"/>
                <a:cs typeface="Arial"/>
              </a:defRPr>
            </a:pPr>
            <a:r>
              <a:rPr sz="2325" b="1">
                <a:solidFill>
                  <a:srgbClr val="237047"/>
                </a:solidFill>
                <a:latin typeface="Arial"/>
                <a:ea typeface="Arial"/>
                <a:cs typeface="Arial"/>
              </a:rPr>
              <a:t>and a reason to inspect.</a:t>
            </a:r>
          </a:p>
        </p:txBody>
      </p:sp>
    </p:spTree>
    <p:extLst>
      <p:ext uri="{BB962C8B-B14F-4D97-AF65-F5344CB8AC3E}">
        <p14:creationId xmlns:p14="http://schemas.microsoft.com/office/powerpoint/2010/main" val="56757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22F403F-FEC2-4ED9-8DD8-121A87536EA3}"/>
              </a:ext>
            </a:extLst>
          </p:cNvPr>
          <p:cNvSpPr>
            <a:spLocks noGrp="1"/>
          </p:cNvSpPr>
          <p:nvPr/>
        </p:nvSpPr>
        <p:spPr>
          <a:xfrm>
            <a:off x="609600" y="457200"/>
            <a:ext cx="10972800" cy="1047750"/>
          </a:xfrm>
          <a:prstGeom prst="rect">
            <a:avLst/>
          </a:prstGeom>
          <a:noFill/>
          <a:ln w="0">
            <a:noFill/>
          </a:ln>
        </p:spPr>
        <p:txBody>
          <a:bodyPr anchor="ctr">
            <a:noAutofit/>
          </a:bodyPr>
          <a:lstStyle/>
          <a:p>
            <a:pPr>
              <a:defRPr sz="3600" b="1">
                <a:solidFill>
                  <a:srgbClr val="073A63"/>
                </a:solidFill>
                <a:latin typeface="Arial"/>
                <a:ea typeface="Arial"/>
                <a:cs typeface="Arial"/>
              </a:defRPr>
            </a:pPr>
            <a:r>
              <a:rPr sz="3600" b="1">
                <a:solidFill>
                  <a:srgbClr val="073A63"/>
                </a:solidFill>
                <a:latin typeface="Arial"/>
                <a:ea typeface="Arial"/>
                <a:cs typeface="Arial"/>
              </a:rPr>
              <a:t>How FieldSignal builds the list</a:t>
            </a:r>
          </a:p>
        </p:txBody>
      </p:sp>
      <p:sp>
        <p:nvSpPr>
          <p:cNvPr id="2" name="Rectangle 1">
            <a:extLst>
              <a:ext uri="{FF2B5EF4-FFF2-40B4-BE49-F238E27FC236}">
                <a16:creationId xmlns:a16="http://schemas.microsoft.com/office/drawing/2014/main" id="{F3760603-2BC7-4FA9-9723-B7D6D53435C1}"/>
              </a:ext>
            </a:extLst>
          </p:cNvPr>
          <p:cNvSpPr>
            <a:spLocks noGrp="1"/>
          </p:cNvSpPr>
          <p:nvPr/>
        </p:nvSpPr>
        <p:spPr>
          <a:xfrm>
            <a:off x="609600" y="1905000"/>
            <a:ext cx="4857750" cy="571500"/>
          </a:xfrm>
          <a:prstGeom prst="rect">
            <a:avLst/>
          </a:prstGeom>
          <a:noFill/>
          <a:ln w="0">
            <a:noFill/>
          </a:ln>
        </p:spPr>
        <p:txBody>
          <a:bodyPr anchor="ctr">
            <a:noAutofit/>
          </a:bodyPr>
          <a:lstStyle/>
          <a:p>
            <a:pPr>
              <a:defRPr sz="2475" b="1">
                <a:solidFill>
                  <a:srgbClr val="237047"/>
                </a:solidFill>
                <a:latin typeface="Arial"/>
                <a:ea typeface="Arial"/>
                <a:cs typeface="Arial"/>
              </a:defRPr>
            </a:pPr>
            <a:r>
              <a:rPr sz="2475" b="1">
                <a:solidFill>
                  <a:srgbClr val="237047"/>
                </a:solidFill>
                <a:latin typeface="Arial"/>
                <a:ea typeface="Arial"/>
                <a:cs typeface="Arial"/>
              </a:rPr>
              <a:t>Forecast inputs</a:t>
            </a:r>
          </a:p>
        </p:txBody>
      </p:sp>
      <p:sp>
        <p:nvSpPr>
          <p:cNvPr id="3" name="Rectangle 2">
            <a:extLst>
              <a:ext uri="{FF2B5EF4-FFF2-40B4-BE49-F238E27FC236}">
                <a16:creationId xmlns:a16="http://schemas.microsoft.com/office/drawing/2014/main" id="{23D265AF-D3AD-43A5-BB7F-EBA9D53090C7}"/>
              </a:ext>
            </a:extLst>
          </p:cNvPr>
          <p:cNvSpPr>
            <a:spLocks noGrp="1"/>
          </p:cNvSpPr>
          <p:nvPr/>
        </p:nvSpPr>
        <p:spPr>
          <a:xfrm>
            <a:off x="609600" y="2638425"/>
            <a:ext cx="5162550" cy="2486025"/>
          </a:xfrm>
          <a:prstGeom prst="rect">
            <a:avLst/>
          </a:prstGeom>
          <a:noFill/>
          <a:ln w="0">
            <a:noFill/>
          </a:ln>
        </p:spPr>
        <p:txBody>
          <a:bodyPr anchor="ctr">
            <a:noAutofit/>
          </a:bodyPr>
          <a:lstStyle/>
          <a:p>
            <a:pPr>
              <a:defRPr sz="2175" b="0">
                <a:solidFill>
                  <a:srgbClr val="183847"/>
                </a:solidFill>
                <a:latin typeface="Arial"/>
                <a:ea typeface="Arial"/>
                <a:cs typeface="Arial"/>
              </a:defRPr>
            </a:pPr>
            <a:r>
              <a:rPr sz="2175" b="0">
                <a:solidFill>
                  <a:srgbClr val="183847"/>
                </a:solidFill>
                <a:latin typeface="Arial"/>
                <a:ea typeface="Arial"/>
                <a:cs typeface="Arial"/>
              </a:rPr>
              <a:t>Planting date, hybrid,</a:t>
            </a:r>
          </a:p>
          <a:p>
            <a:pPr>
              <a:defRPr sz="2175" b="0">
                <a:solidFill>
                  <a:srgbClr val="183847"/>
                </a:solidFill>
                <a:latin typeface="Arial"/>
                <a:ea typeface="Arial"/>
                <a:cs typeface="Arial"/>
              </a:defRPr>
            </a:pPr>
            <a:r>
              <a:rPr sz="2175" b="0">
                <a:solidFill>
                  <a:srgbClr val="183847"/>
                </a:solidFill>
                <a:latin typeface="Arial"/>
                <a:ea typeface="Arial"/>
                <a:cs typeface="Arial"/>
              </a:rPr>
              <a:t>nitrogen and irrigation</a:t>
            </a:r>
          </a:p>
          <a:p>
            <a:endParaRPr sz="2175" b="0">
              <a:solidFill>
                <a:srgbClr val="183847"/>
              </a:solidFill>
              <a:latin typeface="Arial"/>
              <a:ea typeface="Arial"/>
              <a:cs typeface="Arial"/>
            </a:endParaRPr>
          </a:p>
          <a:p>
            <a:pPr>
              <a:defRPr sz="2175" b="0">
                <a:solidFill>
                  <a:srgbClr val="183847"/>
                </a:solidFill>
                <a:latin typeface="Arial"/>
                <a:ea typeface="Arial"/>
                <a:cs typeface="Arial"/>
              </a:defRPr>
            </a:pPr>
            <a:r>
              <a:rPr sz="2175" b="0">
                <a:solidFill>
                  <a:srgbClr val="183847"/>
                </a:solidFill>
                <a:latin typeface="Arial"/>
                <a:ea typeface="Arial"/>
                <a:cs typeface="Arial"/>
              </a:rPr>
              <a:t>Satellite bands and vegetation</a:t>
            </a:r>
          </a:p>
          <a:p>
            <a:pPr>
              <a:defRPr sz="2175" b="0">
                <a:solidFill>
                  <a:srgbClr val="183847"/>
                </a:solidFill>
                <a:latin typeface="Arial"/>
                <a:ea typeface="Arial"/>
                <a:cs typeface="Arial"/>
              </a:defRPr>
            </a:pPr>
            <a:r>
              <a:rPr sz="2175" b="0">
                <a:solidFill>
                  <a:srgbClr val="183847"/>
                </a:solidFill>
                <a:latin typeface="Arial"/>
                <a:ea typeface="Arial"/>
                <a:cs typeface="Arial"/>
              </a:rPr>
              <a:t>indices available by the cutoff</a:t>
            </a:r>
          </a:p>
        </p:txBody>
      </p:sp>
      <p:sp>
        <p:nvSpPr>
          <p:cNvPr id="4" name="Rectangle 3">
            <a:extLst>
              <a:ext uri="{FF2B5EF4-FFF2-40B4-BE49-F238E27FC236}">
                <a16:creationId xmlns:a16="http://schemas.microsoft.com/office/drawing/2014/main" id="{653043DC-8901-4747-93A1-72761CE9CCD3}"/>
              </a:ext>
            </a:extLst>
          </p:cNvPr>
          <p:cNvSpPr>
            <a:spLocks noGrp="1"/>
          </p:cNvSpPr>
          <p:nvPr/>
        </p:nvSpPr>
        <p:spPr>
          <a:xfrm>
            <a:off x="6572250" y="1905000"/>
            <a:ext cx="4857750" cy="571500"/>
          </a:xfrm>
          <a:prstGeom prst="rect">
            <a:avLst/>
          </a:prstGeom>
          <a:noFill/>
          <a:ln w="0">
            <a:noFill/>
          </a:ln>
        </p:spPr>
        <p:txBody>
          <a:bodyPr anchor="ctr">
            <a:noAutofit/>
          </a:bodyPr>
          <a:lstStyle/>
          <a:p>
            <a:pPr>
              <a:defRPr sz="2475" b="1">
                <a:solidFill>
                  <a:srgbClr val="237047"/>
                </a:solidFill>
                <a:latin typeface="Arial"/>
                <a:ea typeface="Arial"/>
                <a:cs typeface="Arial"/>
              </a:defRPr>
            </a:pPr>
            <a:r>
              <a:rPr sz="2475" b="1">
                <a:solidFill>
                  <a:srgbClr val="237047"/>
                </a:solidFill>
                <a:latin typeface="Arial"/>
                <a:ea typeface="Arial"/>
                <a:cs typeface="Arial"/>
              </a:rPr>
              <a:t>Scouting logic</a:t>
            </a:r>
          </a:p>
        </p:txBody>
      </p:sp>
      <p:sp>
        <p:nvSpPr>
          <p:cNvPr id="5" name="Rectangle 4">
            <a:extLst>
              <a:ext uri="{FF2B5EF4-FFF2-40B4-BE49-F238E27FC236}">
                <a16:creationId xmlns:a16="http://schemas.microsoft.com/office/drawing/2014/main" id="{2C3E69DE-4CED-4261-9B5D-265C7713479C}"/>
              </a:ext>
            </a:extLst>
          </p:cNvPr>
          <p:cNvSpPr>
            <a:spLocks noGrp="1"/>
          </p:cNvSpPr>
          <p:nvPr/>
        </p:nvSpPr>
        <p:spPr>
          <a:xfrm>
            <a:off x="6572250" y="2638425"/>
            <a:ext cx="5010150" cy="2647950"/>
          </a:xfrm>
          <a:prstGeom prst="rect">
            <a:avLst/>
          </a:prstGeom>
          <a:noFill/>
          <a:ln w="0">
            <a:noFill/>
          </a:ln>
        </p:spPr>
        <p:txBody>
          <a:bodyPr anchor="ctr">
            <a:noAutofit/>
          </a:bodyPr>
          <a:lstStyle/>
          <a:p>
            <a:pPr>
              <a:defRPr sz="2175" b="0">
                <a:solidFill>
                  <a:srgbClr val="183847"/>
                </a:solidFill>
                <a:latin typeface="Arial"/>
                <a:ea typeface="Arial"/>
                <a:cs typeface="Arial"/>
              </a:defRPr>
            </a:pPr>
            <a:r>
              <a:rPr sz="2175" b="0">
                <a:solidFill>
                  <a:srgbClr val="183847"/>
                </a:solidFill>
                <a:latin typeface="Arial"/>
                <a:ea typeface="Arial"/>
                <a:cs typeface="Arial"/>
              </a:rPr>
              <a:t>Compare forecasts within each site</a:t>
            </a:r>
          </a:p>
          <a:p>
            <a:endParaRPr sz="2175" b="0">
              <a:solidFill>
                <a:srgbClr val="183847"/>
              </a:solidFill>
              <a:latin typeface="Arial"/>
              <a:ea typeface="Arial"/>
              <a:cs typeface="Arial"/>
            </a:endParaRPr>
          </a:p>
          <a:p>
            <a:pPr>
              <a:defRPr sz="2175" b="0">
                <a:solidFill>
                  <a:srgbClr val="183847"/>
                </a:solidFill>
                <a:latin typeface="Arial"/>
                <a:ea typeface="Arial"/>
                <a:cs typeface="Arial"/>
              </a:defRPr>
            </a:pPr>
            <a:r>
              <a:rPr sz="2175" b="0">
                <a:solidFill>
                  <a:srgbClr val="183847"/>
                </a:solidFill>
                <a:latin typeface="Arial"/>
                <a:ea typeface="Arial"/>
                <a:cs typeface="Arial"/>
              </a:rPr>
              <a:t>Flag low forecasts that fall below</a:t>
            </a:r>
          </a:p>
          <a:p>
            <a:pPr>
              <a:defRPr sz="2175" b="0">
                <a:solidFill>
                  <a:srgbClr val="183847"/>
                </a:solidFill>
                <a:latin typeface="Arial"/>
                <a:ea typeface="Arial"/>
                <a:cs typeface="Arial"/>
              </a:defRPr>
            </a:pPr>
            <a:r>
              <a:rPr sz="2175" b="0">
                <a:solidFill>
                  <a:srgbClr val="183847"/>
                </a:solidFill>
                <a:latin typeface="Arial"/>
                <a:ea typeface="Arial"/>
                <a:cs typeface="Arial"/>
              </a:rPr>
              <a:t>the agronomy-only ranking</a:t>
            </a:r>
          </a:p>
          <a:p>
            <a:endParaRPr sz="2175" b="0">
              <a:solidFill>
                <a:srgbClr val="183847"/>
              </a:solidFill>
              <a:latin typeface="Arial"/>
              <a:ea typeface="Arial"/>
              <a:cs typeface="Arial"/>
            </a:endParaRPr>
          </a:p>
          <a:p>
            <a:pPr>
              <a:defRPr sz="2175" b="0">
                <a:solidFill>
                  <a:srgbClr val="183847"/>
                </a:solidFill>
                <a:latin typeface="Arial"/>
                <a:ea typeface="Arial"/>
                <a:cs typeface="Arial"/>
              </a:defRPr>
            </a:pPr>
            <a:r>
              <a:rPr sz="2175" b="0">
                <a:solidFill>
                  <a:srgbClr val="183847"/>
                </a:solidFill>
                <a:latin typeface="Arial"/>
                <a:ea typeface="Arial"/>
                <a:cs typeface="Arial"/>
              </a:rPr>
              <a:t>Order sites by their flagged share</a:t>
            </a:r>
          </a:p>
        </p:txBody>
      </p:sp>
      <p:sp>
        <p:nvSpPr>
          <p:cNvPr id="6" name="Rectangle 5">
            <a:extLst>
              <a:ext uri="{FF2B5EF4-FFF2-40B4-BE49-F238E27FC236}">
                <a16:creationId xmlns:a16="http://schemas.microsoft.com/office/drawing/2014/main" id="{0A5BCAC6-0463-48FB-A357-07B70070D9B7}"/>
              </a:ext>
            </a:extLst>
          </p:cNvPr>
          <p:cNvSpPr>
            <a:spLocks noGrp="1"/>
          </p:cNvSpPr>
          <p:nvPr/>
        </p:nvSpPr>
        <p:spPr>
          <a:xfrm>
            <a:off x="609600" y="6096000"/>
            <a:ext cx="10477500" cy="495300"/>
          </a:xfrm>
          <a:prstGeom prst="rect">
            <a:avLst/>
          </a:prstGeom>
          <a:noFill/>
          <a:ln w="0">
            <a:noFill/>
          </a:ln>
        </p:spPr>
        <p:txBody>
          <a:bodyPr anchor="ctr">
            <a:noAutofit/>
          </a:bodyPr>
          <a:lstStyle/>
          <a:p>
            <a:pPr>
              <a:defRPr sz="1500" b="0">
                <a:solidFill>
                  <a:srgbClr val="58706F"/>
                </a:solidFill>
                <a:latin typeface="Arial"/>
                <a:ea typeface="Arial"/>
                <a:cs typeface="Arial"/>
              </a:defRPr>
            </a:pPr>
            <a:r>
              <a:rPr sz="1500" b="0">
                <a:solidFill>
                  <a:srgbClr val="58706F"/>
                </a:solidFill>
                <a:latin typeface="Arial"/>
                <a:ea typeface="Arial"/>
                <a:cs typeface="Arial"/>
              </a:rPr>
              <a:t>Prototype screening rule. A flag calls for field inspection; it does not diagnose crop stress.</a:t>
            </a:r>
          </a:p>
        </p:txBody>
      </p:sp>
    </p:spTree>
    <p:extLst>
      <p:ext uri="{BB962C8B-B14F-4D97-AF65-F5344CB8AC3E}">
        <p14:creationId xmlns:p14="http://schemas.microsoft.com/office/powerpoint/2010/main" val="2831347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7FA6C8C-6360-4074-B0AD-C2D49760C49D}"/>
              </a:ext>
            </a:extLst>
          </p:cNvPr>
          <p:cNvSpPr>
            <a:spLocks noGrp="1"/>
          </p:cNvSpPr>
          <p:nvPr/>
        </p:nvSpPr>
        <p:spPr>
          <a:xfrm>
            <a:off x="609600" y="457200"/>
            <a:ext cx="10972800" cy="1047750"/>
          </a:xfrm>
          <a:prstGeom prst="rect">
            <a:avLst/>
          </a:prstGeom>
          <a:noFill/>
          <a:ln w="0">
            <a:noFill/>
          </a:ln>
        </p:spPr>
        <p:txBody>
          <a:bodyPr anchor="ctr">
            <a:noAutofit/>
          </a:bodyPr>
          <a:lstStyle/>
          <a:p>
            <a:pPr>
              <a:defRPr sz="3600" b="1">
                <a:solidFill>
                  <a:srgbClr val="073A63"/>
                </a:solidFill>
                <a:latin typeface="Arial"/>
                <a:ea typeface="Arial"/>
                <a:cs typeface="Arial"/>
              </a:defRPr>
            </a:pPr>
            <a:r>
              <a:rPr sz="3600" b="1">
                <a:solidFill>
                  <a:srgbClr val="073A63"/>
                </a:solidFill>
                <a:latin typeface="Arial"/>
                <a:ea typeface="Arial"/>
                <a:cs typeface="Arial"/>
              </a:rPr>
              <a:t>Demo: the suggested first stop</a:t>
            </a:r>
          </a:p>
        </p:txBody>
      </p:sp>
      <p:sp>
        <p:nvSpPr>
          <p:cNvPr id="2" name="Rectangle 1">
            <a:extLst>
              <a:ext uri="{FF2B5EF4-FFF2-40B4-BE49-F238E27FC236}">
                <a16:creationId xmlns:a16="http://schemas.microsoft.com/office/drawing/2014/main" id="{5D3A98AB-94D6-4876-A7CE-44E9224D57FD}"/>
              </a:ext>
            </a:extLst>
          </p:cNvPr>
          <p:cNvSpPr>
            <a:spLocks noGrp="1"/>
          </p:cNvSpPr>
          <p:nvPr/>
        </p:nvSpPr>
        <p:spPr>
          <a:xfrm>
            <a:off x="609600" y="1685925"/>
            <a:ext cx="6238875" cy="628650"/>
          </a:xfrm>
          <a:prstGeom prst="rect">
            <a:avLst/>
          </a:prstGeom>
          <a:noFill/>
          <a:ln w="0">
            <a:noFill/>
          </a:ln>
        </p:spPr>
        <p:txBody>
          <a:bodyPr anchor="ctr">
            <a:noAutofit/>
          </a:bodyPr>
          <a:lstStyle/>
          <a:p>
            <a:pPr>
              <a:defRPr sz="3300" b="1">
                <a:solidFill>
                  <a:srgbClr val="237047"/>
                </a:solidFill>
                <a:latin typeface="Arial"/>
                <a:ea typeface="Arial"/>
                <a:cs typeface="Arial"/>
              </a:defRPr>
            </a:pPr>
            <a:r>
              <a:rPr sz="3300" b="1">
                <a:solidFill>
                  <a:srgbClr val="237047"/>
                </a:solidFill>
                <a:latin typeface="Arial"/>
                <a:ea typeface="Arial"/>
                <a:cs typeface="Arial"/>
              </a:rPr>
              <a:t>Crawfordsville</a:t>
            </a:r>
          </a:p>
        </p:txBody>
      </p:sp>
      <p:sp>
        <p:nvSpPr>
          <p:cNvPr id="3" name="Rectangle 2">
            <a:extLst>
              <a:ext uri="{FF2B5EF4-FFF2-40B4-BE49-F238E27FC236}">
                <a16:creationId xmlns:a16="http://schemas.microsoft.com/office/drawing/2014/main" id="{FF17C446-149D-47DE-ABEC-82A07538E917}"/>
              </a:ext>
            </a:extLst>
          </p:cNvPr>
          <p:cNvSpPr>
            <a:spLocks noGrp="1"/>
          </p:cNvSpPr>
          <p:nvPr/>
        </p:nvSpPr>
        <p:spPr>
          <a:xfrm>
            <a:off x="7105650" y="1724025"/>
            <a:ext cx="4286250" cy="552450"/>
          </a:xfrm>
          <a:prstGeom prst="rect">
            <a:avLst/>
          </a:prstGeom>
          <a:noFill/>
          <a:ln w="0">
            <a:noFill/>
          </a:ln>
        </p:spPr>
        <p:txBody>
          <a:bodyPr anchor="ctr">
            <a:noAutofit/>
          </a:bodyPr>
          <a:lstStyle/>
          <a:p>
            <a:pPr>
              <a:defRPr sz="2850" b="1">
                <a:solidFill>
                  <a:srgbClr val="073A63"/>
                </a:solidFill>
                <a:latin typeface="Arial"/>
                <a:ea typeface="Arial"/>
                <a:cs typeface="Arial"/>
              </a:defRPr>
            </a:pPr>
            <a:r>
              <a:rPr sz="2850" b="1">
                <a:solidFill>
                  <a:srgbClr val="073A63"/>
                </a:solidFill>
                <a:latin typeface="Arial"/>
                <a:ea typeface="Arial"/>
                <a:cs typeface="Arial"/>
              </a:rPr>
              <a:t>88 plots flagged</a:t>
            </a:r>
          </a:p>
        </p:txBody>
      </p:sp>
      <p:pic>
        <p:nvPicPr>
          <p:cNvPr id="9" name="Picture 8"/>
          <p:cNvPicPr>
            <a:picLocks noChangeAspect="1"/>
          </p:cNvPicPr>
          <p:nvPr/>
        </p:nvPicPr>
        <p:blipFill>
          <a:blip r:embed="rId3"/>
          <a:stretch/>
        </p:blipFill>
        <p:spPr>
          <a:xfrm>
            <a:off x="616273" y="2714625"/>
            <a:ext cx="10959454" cy="2857500"/>
          </a:xfrm>
          <a:prstGeom prst="rect">
            <a:avLst/>
          </a:prstGeom>
        </p:spPr>
      </p:pic>
      <p:sp>
        <p:nvSpPr>
          <p:cNvPr id="5" name="Rectangle 4">
            <a:extLst>
              <a:ext uri="{FF2B5EF4-FFF2-40B4-BE49-F238E27FC236}">
                <a16:creationId xmlns:a16="http://schemas.microsoft.com/office/drawing/2014/main" id="{9080C6C0-3F8A-4D5D-AAFB-25E5368B0718}"/>
              </a:ext>
            </a:extLst>
          </p:cNvPr>
          <p:cNvSpPr>
            <a:spLocks noGrp="1"/>
          </p:cNvSpPr>
          <p:nvPr/>
        </p:nvSpPr>
        <p:spPr>
          <a:xfrm>
            <a:off x="609600" y="6096000"/>
            <a:ext cx="10477500" cy="495300"/>
          </a:xfrm>
          <a:prstGeom prst="rect">
            <a:avLst/>
          </a:prstGeom>
          <a:noFill/>
          <a:ln w="0">
            <a:noFill/>
          </a:ln>
        </p:spPr>
        <p:txBody>
          <a:bodyPr anchor="ctr">
            <a:noAutofit/>
          </a:bodyPr>
          <a:lstStyle/>
          <a:p>
            <a:pPr>
              <a:defRPr sz="1500" b="0">
                <a:solidFill>
                  <a:srgbClr val="58706F"/>
                </a:solidFill>
                <a:latin typeface="Arial"/>
                <a:ea typeface="Arial"/>
                <a:cs typeface="Arial"/>
              </a:defRPr>
            </a:pPr>
            <a:r>
              <a:rPr sz="1500" b="0">
                <a:solidFill>
                  <a:srgbClr val="58706F"/>
                </a:solidFill>
                <a:latin typeface="Arial"/>
                <a:ea typeface="Arial"/>
                <a:cs typeface="Arial"/>
              </a:rPr>
              <a:t>Historical replay. The suggested order uses the flagged share, not the total number of plots.</a:t>
            </a:r>
          </a:p>
        </p:txBody>
      </p:sp>
    </p:spTree>
    <p:extLst>
      <p:ext uri="{BB962C8B-B14F-4D97-AF65-F5344CB8AC3E}">
        <p14:creationId xmlns:p14="http://schemas.microsoft.com/office/powerpoint/2010/main" val="1911896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CEA894-00AD-41DB-BAEE-853C61A15E8A}"/>
              </a:ext>
            </a:extLst>
          </p:cNvPr>
          <p:cNvSpPr>
            <a:spLocks noGrp="1"/>
          </p:cNvSpPr>
          <p:nvPr/>
        </p:nvSpPr>
        <p:spPr>
          <a:xfrm>
            <a:off x="609600" y="457200"/>
            <a:ext cx="10972800" cy="1047750"/>
          </a:xfrm>
          <a:prstGeom prst="rect">
            <a:avLst/>
          </a:prstGeom>
          <a:noFill/>
          <a:ln w="0">
            <a:noFill/>
          </a:ln>
        </p:spPr>
        <p:txBody>
          <a:bodyPr anchor="ctr">
            <a:noAutofit/>
          </a:bodyPr>
          <a:lstStyle/>
          <a:p>
            <a:pPr>
              <a:defRPr sz="3600" b="1">
                <a:solidFill>
                  <a:srgbClr val="073A63"/>
                </a:solidFill>
                <a:latin typeface="Arial"/>
                <a:ea typeface="Arial"/>
                <a:cs typeface="Arial"/>
              </a:defRPr>
            </a:pPr>
            <a:r>
              <a:rPr sz="3600" b="1">
                <a:solidFill>
                  <a:srgbClr val="073A63"/>
                </a:solidFill>
                <a:latin typeface="Arial"/>
                <a:ea typeface="Arial"/>
                <a:cs typeface="Arial"/>
              </a:rPr>
              <a:t>Demo: a plot and a reason to inspect</a:t>
            </a:r>
          </a:p>
        </p:txBody>
      </p:sp>
      <p:pic>
        <p:nvPicPr>
          <p:cNvPr id="6" name="Picture 5"/>
          <p:cNvPicPr>
            <a:picLocks noChangeAspect="1"/>
          </p:cNvPicPr>
          <p:nvPr/>
        </p:nvPicPr>
        <p:blipFill>
          <a:blip r:embed="rId3"/>
          <a:stretch/>
        </p:blipFill>
        <p:spPr>
          <a:xfrm>
            <a:off x="614662" y="1828800"/>
            <a:ext cx="10962676" cy="3324225"/>
          </a:xfrm>
          <a:prstGeom prst="rect">
            <a:avLst/>
          </a:prstGeom>
        </p:spPr>
      </p:pic>
      <p:sp>
        <p:nvSpPr>
          <p:cNvPr id="3" name="Rectangle 2">
            <a:extLst>
              <a:ext uri="{FF2B5EF4-FFF2-40B4-BE49-F238E27FC236}">
                <a16:creationId xmlns:a16="http://schemas.microsoft.com/office/drawing/2014/main" id="{10A9A3BA-9DDB-4922-8E77-EE7D19010268}"/>
              </a:ext>
            </a:extLst>
          </p:cNvPr>
          <p:cNvSpPr>
            <a:spLocks noGrp="1"/>
          </p:cNvSpPr>
          <p:nvPr/>
        </p:nvSpPr>
        <p:spPr>
          <a:xfrm>
            <a:off x="609600" y="5295900"/>
            <a:ext cx="10972800" cy="619125"/>
          </a:xfrm>
          <a:prstGeom prst="rect">
            <a:avLst/>
          </a:prstGeom>
          <a:noFill/>
          <a:ln w="0">
            <a:noFill/>
          </a:ln>
        </p:spPr>
        <p:txBody>
          <a:bodyPr anchor="ctr">
            <a:noAutofit/>
          </a:bodyPr>
          <a:lstStyle/>
          <a:p>
            <a:pPr>
              <a:defRPr sz="2400" b="1">
                <a:solidFill>
                  <a:srgbClr val="237047"/>
                </a:solidFill>
                <a:latin typeface="Arial"/>
                <a:ea typeface="Arial"/>
                <a:cs typeface="Arial"/>
              </a:defRPr>
            </a:pPr>
            <a:r>
              <a:rPr sz="2400" b="1">
                <a:solidFill>
                  <a:srgbClr val="237047"/>
                </a:solidFill>
                <a:latin typeface="Arial"/>
                <a:ea typeface="Arial"/>
                <a:cs typeface="Arial"/>
              </a:rPr>
              <a:t>Crew action: inspect crop condition and record the findings</a:t>
            </a:r>
          </a:p>
        </p:txBody>
      </p:sp>
      <p:sp>
        <p:nvSpPr>
          <p:cNvPr id="4" name="Rectangle 3">
            <a:extLst>
              <a:ext uri="{FF2B5EF4-FFF2-40B4-BE49-F238E27FC236}">
                <a16:creationId xmlns:a16="http://schemas.microsoft.com/office/drawing/2014/main" id="{40C85D9A-6D7C-4135-887C-B1BE13E46FFF}"/>
              </a:ext>
            </a:extLst>
          </p:cNvPr>
          <p:cNvSpPr>
            <a:spLocks noGrp="1"/>
          </p:cNvSpPr>
          <p:nvPr/>
        </p:nvSpPr>
        <p:spPr>
          <a:xfrm>
            <a:off x="609600" y="6096000"/>
            <a:ext cx="10477500" cy="495300"/>
          </a:xfrm>
          <a:prstGeom prst="rect">
            <a:avLst/>
          </a:prstGeom>
          <a:noFill/>
          <a:ln w="0">
            <a:noFill/>
          </a:ln>
        </p:spPr>
        <p:txBody>
          <a:bodyPr anchor="ctr">
            <a:noAutofit/>
          </a:bodyPr>
          <a:lstStyle/>
          <a:p>
            <a:pPr>
              <a:defRPr sz="1500" b="0">
                <a:solidFill>
                  <a:srgbClr val="58706F"/>
                </a:solidFill>
                <a:latin typeface="Arial"/>
                <a:ea typeface="Arial"/>
                <a:cs typeface="Arial"/>
              </a:defRPr>
            </a:pPr>
            <a:r>
              <a:rPr sz="1500" b="0">
                <a:solidFill>
                  <a:srgbClr val="58706F"/>
                </a:solidFill>
                <a:latin typeface="Arial"/>
                <a:ea typeface="Arial"/>
                <a:cs typeface="Arial"/>
              </a:rPr>
              <a:t>Forecasts guide inspection. The prototype does not identify a cause or prescribe a treatment.</a:t>
            </a:r>
          </a:p>
        </p:txBody>
      </p:sp>
    </p:spTree>
    <p:extLst>
      <p:ext uri="{BB962C8B-B14F-4D97-AF65-F5344CB8AC3E}">
        <p14:creationId xmlns:p14="http://schemas.microsoft.com/office/powerpoint/2010/main" val="3159788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C486E0A-DBC1-4F20-931F-39E640309CF4}"/>
              </a:ext>
            </a:extLst>
          </p:cNvPr>
          <p:cNvSpPr>
            <a:spLocks noGrp="1"/>
          </p:cNvSpPr>
          <p:nvPr/>
        </p:nvSpPr>
        <p:spPr>
          <a:xfrm>
            <a:off x="609600" y="457200"/>
            <a:ext cx="10972800" cy="1047750"/>
          </a:xfrm>
          <a:prstGeom prst="rect">
            <a:avLst/>
          </a:prstGeom>
          <a:noFill/>
          <a:ln w="0">
            <a:noFill/>
          </a:ln>
        </p:spPr>
        <p:txBody>
          <a:bodyPr anchor="ctr">
            <a:noAutofit/>
          </a:bodyPr>
          <a:lstStyle/>
          <a:p>
            <a:pPr>
              <a:defRPr sz="3600" b="1">
                <a:solidFill>
                  <a:srgbClr val="073A63"/>
                </a:solidFill>
                <a:latin typeface="Arial"/>
                <a:ea typeface="Arial"/>
                <a:cs typeface="Arial"/>
              </a:defRPr>
            </a:pPr>
            <a:r>
              <a:rPr sz="3600" b="1">
                <a:solidFill>
                  <a:srgbClr val="073A63"/>
                </a:solidFill>
                <a:latin typeface="Arial"/>
                <a:ea typeface="Arial"/>
                <a:cs typeface="Arial"/>
              </a:rPr>
              <a:t>Imagery found 6 more low-yield plots</a:t>
            </a:r>
          </a:p>
        </p:txBody>
      </p:sp>
      <p:sp>
        <p:nvSpPr>
          <p:cNvPr id="2" name="Rectangle 1">
            <a:extLst>
              <a:ext uri="{FF2B5EF4-FFF2-40B4-BE49-F238E27FC236}">
                <a16:creationId xmlns:a16="http://schemas.microsoft.com/office/drawing/2014/main" id="{895985E9-0B59-4712-8D0C-9B26B4EF290F}"/>
              </a:ext>
            </a:extLst>
          </p:cNvPr>
          <p:cNvSpPr>
            <a:spLocks noGrp="1"/>
          </p:cNvSpPr>
          <p:nvPr/>
        </p:nvSpPr>
        <p:spPr>
          <a:xfrm>
            <a:off x="609600" y="1581150"/>
            <a:ext cx="10972800" cy="561975"/>
          </a:xfrm>
          <a:prstGeom prst="rect">
            <a:avLst/>
          </a:prstGeom>
          <a:noFill/>
          <a:ln w="0">
            <a:noFill/>
          </a:ln>
        </p:spPr>
        <p:txBody>
          <a:bodyPr anchor="ctr">
            <a:noAutofit/>
          </a:bodyPr>
          <a:lstStyle/>
          <a:p>
            <a:pPr>
              <a:defRPr sz="2175" b="0">
                <a:solidFill>
                  <a:srgbClr val="58706F"/>
                </a:solidFill>
                <a:latin typeface="Arial"/>
                <a:ea typeface="Arial"/>
                <a:cs typeface="Arial"/>
              </a:defRPr>
            </a:pPr>
            <a:r>
              <a:rPr sz="2175" b="0">
                <a:solidFill>
                  <a:srgbClr val="58706F"/>
                </a:solidFill>
                <a:latin typeface="Arial"/>
                <a:ea typeface="Arial"/>
                <a:cs typeface="Arial"/>
              </a:rPr>
              <a:t>Retrospective test at day 75: 10 visits per site, 50 visits total</a:t>
            </a:r>
          </a:p>
        </p:txBody>
      </p:sp>
      <p:graphicFrame>
        <p:nvGraphicFramePr>
          <p:cNvPr id="11" name="Chart"/>
          <p:cNvGraphicFramePr/>
          <p:nvPr/>
        </p:nvGraphicFramePr>
        <p:xfrm>
          <a:off x="609600" y="2447925"/>
          <a:ext cx="7105650" cy="2867025"/>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13E3B153-66E1-47DC-85DB-B07909A0378F}"/>
              </a:ext>
            </a:extLst>
          </p:cNvPr>
          <p:cNvSpPr>
            <a:spLocks noGrp="1"/>
          </p:cNvSpPr>
          <p:nvPr/>
        </p:nvSpPr>
        <p:spPr>
          <a:xfrm>
            <a:off x="8534400" y="2600325"/>
            <a:ext cx="2990850" cy="857250"/>
          </a:xfrm>
          <a:prstGeom prst="rect">
            <a:avLst/>
          </a:prstGeom>
          <a:noFill/>
          <a:ln w="0">
            <a:noFill/>
          </a:ln>
        </p:spPr>
        <p:txBody>
          <a:bodyPr anchor="ctr">
            <a:noAutofit/>
          </a:bodyPr>
          <a:lstStyle/>
          <a:p>
            <a:pPr>
              <a:defRPr sz="4650" b="1">
                <a:solidFill>
                  <a:srgbClr val="237047"/>
                </a:solidFill>
                <a:latin typeface="Arial"/>
                <a:ea typeface="Arial"/>
                <a:cs typeface="Arial"/>
              </a:defRPr>
            </a:pPr>
            <a:r>
              <a:rPr sz="4650" b="1">
                <a:solidFill>
                  <a:srgbClr val="237047"/>
                </a:solidFill>
                <a:latin typeface="Arial"/>
                <a:ea typeface="Arial"/>
                <a:cs typeface="Arial"/>
              </a:rPr>
              <a:t>30 / 50</a:t>
            </a:r>
          </a:p>
        </p:txBody>
      </p:sp>
      <p:sp>
        <p:nvSpPr>
          <p:cNvPr id="5" name="Rectangle 4">
            <a:extLst>
              <a:ext uri="{FF2B5EF4-FFF2-40B4-BE49-F238E27FC236}">
                <a16:creationId xmlns:a16="http://schemas.microsoft.com/office/drawing/2014/main" id="{2C67ECEE-8B64-4E15-AF1D-616AFCBAB8D2}"/>
              </a:ext>
            </a:extLst>
          </p:cNvPr>
          <p:cNvSpPr>
            <a:spLocks noGrp="1"/>
          </p:cNvSpPr>
          <p:nvPr/>
        </p:nvSpPr>
        <p:spPr>
          <a:xfrm>
            <a:off x="8572500" y="3524250"/>
            <a:ext cx="2914650" cy="952500"/>
          </a:xfrm>
          <a:prstGeom prst="rect">
            <a:avLst/>
          </a:prstGeom>
          <a:noFill/>
          <a:ln w="0">
            <a:noFill/>
          </a:ln>
        </p:spPr>
        <p:txBody>
          <a:bodyPr anchor="ctr">
            <a:noAutofit/>
          </a:bodyPr>
          <a:lstStyle/>
          <a:p>
            <a:pPr>
              <a:defRPr sz="2025" b="0">
                <a:solidFill>
                  <a:srgbClr val="183847"/>
                </a:solidFill>
                <a:latin typeface="Arial"/>
                <a:ea typeface="Arial"/>
                <a:cs typeface="Arial"/>
              </a:defRPr>
            </a:pPr>
            <a:r>
              <a:rPr sz="2025" b="0">
                <a:solidFill>
                  <a:srgbClr val="183847"/>
                </a:solidFill>
                <a:latin typeface="Arial"/>
                <a:ea typeface="Arial"/>
                <a:cs typeface="Arial"/>
              </a:rPr>
              <a:t>visits found a plot in</a:t>
            </a:r>
          </a:p>
          <a:p>
            <a:pPr>
              <a:defRPr sz="2025" b="0">
                <a:solidFill>
                  <a:srgbClr val="183847"/>
                </a:solidFill>
                <a:latin typeface="Arial"/>
                <a:ea typeface="Arial"/>
                <a:cs typeface="Arial"/>
              </a:defRPr>
            </a:pPr>
            <a:r>
              <a:rPr sz="2025" b="0">
                <a:solidFill>
                  <a:srgbClr val="183847"/>
                </a:solidFill>
                <a:latin typeface="Arial"/>
                <a:ea typeface="Arial"/>
                <a:cs typeface="Arial"/>
              </a:rPr>
              <a:t>the actual bottom 20%</a:t>
            </a:r>
          </a:p>
        </p:txBody>
      </p:sp>
      <p:sp>
        <p:nvSpPr>
          <p:cNvPr id="6" name="Rectangle 5">
            <a:extLst>
              <a:ext uri="{FF2B5EF4-FFF2-40B4-BE49-F238E27FC236}">
                <a16:creationId xmlns:a16="http://schemas.microsoft.com/office/drawing/2014/main" id="{6F7C80AD-8841-45B6-8A88-4A887372CD04}"/>
              </a:ext>
            </a:extLst>
          </p:cNvPr>
          <p:cNvSpPr>
            <a:spLocks noGrp="1"/>
          </p:cNvSpPr>
          <p:nvPr/>
        </p:nvSpPr>
        <p:spPr>
          <a:xfrm>
            <a:off x="8572500" y="4724400"/>
            <a:ext cx="2914650" cy="600075"/>
          </a:xfrm>
          <a:prstGeom prst="rect">
            <a:avLst/>
          </a:prstGeom>
          <a:noFill/>
          <a:ln w="0">
            <a:noFill/>
          </a:ln>
        </p:spPr>
        <p:txBody>
          <a:bodyPr anchor="ctr">
            <a:noAutofit/>
          </a:bodyPr>
          <a:lstStyle/>
          <a:p>
            <a:pPr>
              <a:defRPr sz="1800" b="0">
                <a:solidFill>
                  <a:srgbClr val="58706F"/>
                </a:solidFill>
                <a:latin typeface="Arial"/>
                <a:ea typeface="Arial"/>
                <a:cs typeface="Arial"/>
              </a:defRPr>
            </a:pPr>
            <a:r>
              <a:rPr sz="1800" b="0">
                <a:solidFill>
                  <a:srgbClr val="58706F"/>
                </a:solidFill>
                <a:latin typeface="Arial"/>
                <a:ea typeface="Arial"/>
                <a:cs typeface="Arial"/>
              </a:rPr>
              <a:t>7% of all low-yield plots</a:t>
            </a:r>
          </a:p>
        </p:txBody>
      </p:sp>
      <p:sp>
        <p:nvSpPr>
          <p:cNvPr id="7" name="Rectangle 6">
            <a:extLst>
              <a:ext uri="{FF2B5EF4-FFF2-40B4-BE49-F238E27FC236}">
                <a16:creationId xmlns:a16="http://schemas.microsoft.com/office/drawing/2014/main" id="{33B8A16D-F76C-4A51-91F9-AD19C81EF292}"/>
              </a:ext>
            </a:extLst>
          </p:cNvPr>
          <p:cNvSpPr>
            <a:spLocks noGrp="1"/>
          </p:cNvSpPr>
          <p:nvPr/>
        </p:nvSpPr>
        <p:spPr>
          <a:xfrm>
            <a:off x="2762250" y="5410200"/>
            <a:ext cx="5286375" cy="381000"/>
          </a:xfrm>
          <a:prstGeom prst="rect">
            <a:avLst/>
          </a:prstGeom>
          <a:noFill/>
          <a:ln w="0">
            <a:noFill/>
          </a:ln>
        </p:spPr>
        <p:txBody>
          <a:bodyPr anchor="ctr">
            <a:noAutofit/>
          </a:bodyPr>
          <a:lstStyle/>
          <a:p>
            <a:pPr>
              <a:defRPr sz="1725" b="0">
                <a:solidFill>
                  <a:srgbClr val="58706F"/>
                </a:solidFill>
                <a:latin typeface="Arial"/>
                <a:ea typeface="Arial"/>
                <a:cs typeface="Arial"/>
              </a:defRPr>
            </a:pPr>
            <a:r>
              <a:rPr sz="1725" b="0">
                <a:solidFill>
                  <a:srgbClr val="58706F"/>
                </a:solidFill>
                <a:latin typeface="Arial"/>
                <a:ea typeface="Arial"/>
                <a:cs typeface="Arial"/>
              </a:rPr>
              <a:t>Low-yield plots found in the inspection list</a:t>
            </a:r>
          </a:p>
        </p:txBody>
      </p:sp>
      <p:sp>
        <p:nvSpPr>
          <p:cNvPr id="8" name="Rectangle 7">
            <a:extLst>
              <a:ext uri="{FF2B5EF4-FFF2-40B4-BE49-F238E27FC236}">
                <a16:creationId xmlns:a16="http://schemas.microsoft.com/office/drawing/2014/main" id="{378777A4-7DC7-4E96-9D49-E19E8F9FA92E}"/>
              </a:ext>
            </a:extLst>
          </p:cNvPr>
          <p:cNvSpPr>
            <a:spLocks noGrp="1"/>
          </p:cNvSpPr>
          <p:nvPr/>
        </p:nvSpPr>
        <p:spPr>
          <a:xfrm>
            <a:off x="609600" y="6096000"/>
            <a:ext cx="10477500" cy="495300"/>
          </a:xfrm>
          <a:prstGeom prst="rect">
            <a:avLst/>
          </a:prstGeom>
          <a:noFill/>
          <a:ln w="0">
            <a:noFill/>
          </a:ln>
        </p:spPr>
        <p:txBody>
          <a:bodyPr anchor="ctr">
            <a:noAutofit/>
          </a:bodyPr>
          <a:lstStyle/>
          <a:p>
            <a:pPr>
              <a:defRPr sz="1500" b="0">
                <a:solidFill>
                  <a:srgbClr val="58706F"/>
                </a:solidFill>
                <a:latin typeface="Arial"/>
                <a:ea typeface="Arial"/>
                <a:cs typeface="Arial"/>
              </a:defRPr>
            </a:pPr>
            <a:r>
              <a:rPr sz="1500" b="0">
                <a:solidFill>
                  <a:srgbClr val="58706F"/>
                </a:solidFill>
                <a:latin typeface="Arial"/>
                <a:ea typeface="Arial"/>
                <a:cs typeface="Arial"/>
              </a:rPr>
              <a:t>Five held-out sites in 2022. This test uses lowest forecast first, a different ordering from the demo.</a:t>
            </a:r>
          </a:p>
        </p:txBody>
      </p:sp>
    </p:spTree>
    <p:extLst>
      <p:ext uri="{BB962C8B-B14F-4D97-AF65-F5344CB8AC3E}">
        <p14:creationId xmlns:p14="http://schemas.microsoft.com/office/powerpoint/2010/main" val="1989556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0FDF946-A60D-43C9-A6F9-250B6D77D8BE}"/>
              </a:ext>
            </a:extLst>
          </p:cNvPr>
          <p:cNvSpPr>
            <a:spLocks noGrp="1"/>
          </p:cNvSpPr>
          <p:nvPr/>
        </p:nvSpPr>
        <p:spPr>
          <a:xfrm>
            <a:off x="609600" y="457200"/>
            <a:ext cx="10972800" cy="1047750"/>
          </a:xfrm>
          <a:prstGeom prst="rect">
            <a:avLst/>
          </a:prstGeom>
          <a:noFill/>
          <a:ln w="0">
            <a:noFill/>
          </a:ln>
        </p:spPr>
        <p:txBody>
          <a:bodyPr anchor="ctr">
            <a:noAutofit/>
          </a:bodyPr>
          <a:lstStyle/>
          <a:p>
            <a:pPr>
              <a:defRPr sz="3600" b="1">
                <a:solidFill>
                  <a:srgbClr val="073A63"/>
                </a:solidFill>
                <a:latin typeface="Arial"/>
                <a:ea typeface="Arial"/>
                <a:cs typeface="Arial"/>
              </a:defRPr>
            </a:pPr>
            <a:r>
              <a:rPr sz="3600" b="1">
                <a:solidFill>
                  <a:srgbClr val="073A63"/>
                </a:solidFill>
                <a:latin typeface="Arial"/>
                <a:ea typeface="Arial"/>
                <a:cs typeface="Arial"/>
              </a:rPr>
              <a:t>A focused start to the scouting day</a:t>
            </a:r>
          </a:p>
        </p:txBody>
      </p:sp>
      <p:sp>
        <p:nvSpPr>
          <p:cNvPr id="2" name="Rectangle 1">
            <a:extLst>
              <a:ext uri="{FF2B5EF4-FFF2-40B4-BE49-F238E27FC236}">
                <a16:creationId xmlns:a16="http://schemas.microsoft.com/office/drawing/2014/main" id="{83524472-F1F4-4541-A323-247C90079AF8}"/>
              </a:ext>
            </a:extLst>
          </p:cNvPr>
          <p:cNvSpPr>
            <a:spLocks noGrp="1"/>
          </p:cNvSpPr>
          <p:nvPr/>
        </p:nvSpPr>
        <p:spPr>
          <a:xfrm>
            <a:off x="609600" y="1857375"/>
            <a:ext cx="10763250" cy="2238375"/>
          </a:xfrm>
          <a:prstGeom prst="rect">
            <a:avLst/>
          </a:prstGeom>
          <a:noFill/>
          <a:ln w="0">
            <a:noFill/>
          </a:ln>
        </p:spPr>
        <p:txBody>
          <a:bodyPr anchor="ctr">
            <a:noAutofit/>
          </a:bodyPr>
          <a:lstStyle/>
          <a:p>
            <a:pPr>
              <a:defRPr sz="3600" b="1">
                <a:solidFill>
                  <a:srgbClr val="073A63"/>
                </a:solidFill>
                <a:latin typeface="Arial"/>
                <a:ea typeface="Arial"/>
                <a:cs typeface="Arial"/>
              </a:defRPr>
            </a:pPr>
            <a:r>
              <a:rPr sz="3600" b="1">
                <a:solidFill>
                  <a:srgbClr val="073A63"/>
                </a:solidFill>
                <a:latin typeface="Arial"/>
                <a:ea typeface="Arial"/>
                <a:cs typeface="Arial"/>
              </a:rPr>
              <a:t>A site to visit.</a:t>
            </a:r>
          </a:p>
          <a:p>
            <a:pPr>
              <a:defRPr sz="3600" b="1">
                <a:solidFill>
                  <a:srgbClr val="073A63"/>
                </a:solidFill>
                <a:latin typeface="Arial"/>
                <a:ea typeface="Arial"/>
                <a:cs typeface="Arial"/>
              </a:defRPr>
            </a:pPr>
            <a:r>
              <a:rPr sz="3600" b="1">
                <a:solidFill>
                  <a:srgbClr val="073A63"/>
                </a:solidFill>
                <a:latin typeface="Arial"/>
                <a:ea typeface="Arial"/>
                <a:cs typeface="Arial"/>
              </a:rPr>
              <a:t>A plot list.</a:t>
            </a:r>
          </a:p>
          <a:p>
            <a:pPr>
              <a:defRPr sz="3600" b="1">
                <a:solidFill>
                  <a:srgbClr val="073A63"/>
                </a:solidFill>
                <a:latin typeface="Arial"/>
                <a:ea typeface="Arial"/>
                <a:cs typeface="Arial"/>
              </a:defRPr>
            </a:pPr>
            <a:r>
              <a:rPr sz="3600" b="1">
                <a:solidFill>
                  <a:srgbClr val="073A63"/>
                </a:solidFill>
                <a:latin typeface="Arial"/>
                <a:ea typeface="Arial"/>
                <a:cs typeface="Arial"/>
              </a:rPr>
              <a:t>Evidence to guide the inspection.</a:t>
            </a:r>
          </a:p>
        </p:txBody>
      </p:sp>
      <p:sp>
        <p:nvSpPr>
          <p:cNvPr id="3" name="Rectangle 2">
            <a:extLst>
              <a:ext uri="{FF2B5EF4-FFF2-40B4-BE49-F238E27FC236}">
                <a16:creationId xmlns:a16="http://schemas.microsoft.com/office/drawing/2014/main" id="{7B95E232-6F27-432B-BEE2-A1D495392F5B}"/>
              </a:ext>
            </a:extLst>
          </p:cNvPr>
          <p:cNvSpPr>
            <a:spLocks noGrp="1"/>
          </p:cNvSpPr>
          <p:nvPr/>
        </p:nvSpPr>
        <p:spPr>
          <a:xfrm>
            <a:off x="609600" y="4552950"/>
            <a:ext cx="10858500" cy="981075"/>
          </a:xfrm>
          <a:prstGeom prst="rect">
            <a:avLst/>
          </a:prstGeom>
          <a:noFill/>
          <a:ln w="0">
            <a:noFill/>
          </a:ln>
        </p:spPr>
        <p:txBody>
          <a:bodyPr anchor="ctr">
            <a:noAutofit/>
          </a:bodyPr>
          <a:lstStyle/>
          <a:p>
            <a:pPr>
              <a:defRPr sz="2400" b="1">
                <a:solidFill>
                  <a:srgbClr val="237047"/>
                </a:solidFill>
                <a:latin typeface="Arial"/>
                <a:ea typeface="Arial"/>
                <a:cs typeface="Arial"/>
              </a:defRPr>
            </a:pPr>
            <a:r>
              <a:rPr sz="2400" b="1">
                <a:solidFill>
                  <a:srgbClr val="237047"/>
                </a:solidFill>
                <a:latin typeface="Arial"/>
                <a:ea typeface="Arial"/>
                <a:cs typeface="Arial"/>
              </a:rPr>
              <a:t>Next: test the briefing with a scouting crew</a:t>
            </a:r>
          </a:p>
          <a:p>
            <a:pPr>
              <a:defRPr sz="2400" b="1">
                <a:solidFill>
                  <a:srgbClr val="237047"/>
                </a:solidFill>
                <a:latin typeface="Arial"/>
                <a:ea typeface="Arial"/>
                <a:cs typeface="Arial"/>
              </a:defRPr>
            </a:pPr>
            <a:r>
              <a:rPr sz="2400" b="1">
                <a:solidFill>
                  <a:srgbClr val="237047"/>
                </a:solidFill>
                <a:latin typeface="Arial"/>
                <a:ea typeface="Arial"/>
                <a:cs typeface="Arial"/>
              </a:rPr>
              <a:t>and validate forecasts on another season.</a:t>
            </a:r>
          </a:p>
        </p:txBody>
      </p:sp>
      <p:sp>
        <p:nvSpPr>
          <p:cNvPr id="4" name="Rectangle 3">
            <a:extLst>
              <a:ext uri="{FF2B5EF4-FFF2-40B4-BE49-F238E27FC236}">
                <a16:creationId xmlns:a16="http://schemas.microsoft.com/office/drawing/2014/main" id="{C92C134A-7BA8-42EA-AC92-DF3D054FCE82}"/>
              </a:ext>
            </a:extLst>
          </p:cNvPr>
          <p:cNvSpPr>
            <a:spLocks noGrp="1"/>
          </p:cNvSpPr>
          <p:nvPr/>
        </p:nvSpPr>
        <p:spPr>
          <a:xfrm>
            <a:off x="609600" y="6096000"/>
            <a:ext cx="10477500" cy="495300"/>
          </a:xfrm>
          <a:prstGeom prst="rect">
            <a:avLst/>
          </a:prstGeom>
          <a:noFill/>
          <a:ln w="0">
            <a:noFill/>
          </a:ln>
        </p:spPr>
        <p:txBody>
          <a:bodyPr anchor="ctr">
            <a:noAutofit/>
          </a:bodyPr>
          <a:lstStyle/>
          <a:p>
            <a:pPr>
              <a:defRPr sz="1500" b="0">
                <a:solidFill>
                  <a:srgbClr val="58706F"/>
                </a:solidFill>
                <a:latin typeface="Arial"/>
                <a:ea typeface="Arial"/>
                <a:cs typeface="Arial"/>
              </a:defRPr>
            </a:pPr>
            <a:r>
              <a:rPr sz="1500" b="0">
                <a:solidFill>
                  <a:srgbClr val="58706F"/>
                </a:solidFill>
                <a:latin typeface="Arial"/>
                <a:ea typeface="Arial"/>
                <a:cs typeface="Arial"/>
              </a:rPr>
              <a:t>FieldSignal Morning Briefing</a:t>
            </a:r>
          </a:p>
        </p:txBody>
      </p:sp>
    </p:spTree>
    <p:extLst>
      <p:ext uri="{BB962C8B-B14F-4D97-AF65-F5344CB8AC3E}">
        <p14:creationId xmlns:p14="http://schemas.microsoft.com/office/powerpoint/2010/main" val="31640247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1337</Words>
  <Application>Microsoft Office PowerPoint</Application>
  <DocSecurity>0</DocSecurity>
  <PresentationFormat>Widescreen</PresentationFormat>
  <Paragraphs>104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Alperen Uraz Tasci</cp:lastModifiedBy>
  <cp:revision>1</cp:revision>
  <dcterms:created xsi:type="dcterms:W3CDTF">2026-09-26T23:09:36Z</dcterms:created>
  <dcterms:modified xsi:type="dcterms:W3CDTF">2026-09-26T23:12:27Z</dcterms:modified>
</cp:coreProperties>
</file>