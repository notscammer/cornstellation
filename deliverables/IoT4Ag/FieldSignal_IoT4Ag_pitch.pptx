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8dd6ca6d9f84937" /><Relationship Type="http://schemas.openxmlformats.org/officeDocument/2006/relationships/extended-properties" Target="/docProps/app.xml" Id="R0d6830e6509c4bf9" /><Relationship Type="http://schemas.openxmlformats.org/officeDocument/2006/relationships/officeDocument" Target="/ppt/presentation.xml" Id="Rffa3c6ca22ed433b" /></Relationships>
</file>

<file path=ppt/presentation.xml><?xml version="1.0" encoding="utf-8"?>
<p:presentation xmlns:p="http://schemas.openxmlformats.org/presentationml/2006/main">
  <p:sldMasterIdLst>
    <p:sldMasterId xmlns:r="http://schemas.openxmlformats.org/officeDocument/2006/relationships" id="2147483648" r:id="Ra16067ef85504019"/>
  </p:sldMasterIdLst>
  <p:notesMasterIdLst>
    <p:notesMasterId xmlns:r="http://schemas.openxmlformats.org/officeDocument/2006/relationships" r:id="R17e2efcb6e0542fa"/>
  </p:notesMasterIdLst>
  <p:sldIdLst>
    <p:sldId xmlns:r="http://schemas.openxmlformats.org/officeDocument/2006/relationships" id="256" r:id="R509aa907ae014cb7"/>
    <p:sldId xmlns:r="http://schemas.openxmlformats.org/officeDocument/2006/relationships" id="257" r:id="R5414cf47b76c47af"/>
    <p:sldId xmlns:r="http://schemas.openxmlformats.org/officeDocument/2006/relationships" id="258" r:id="Rb3cd930fb8634a6a"/>
    <p:sldId xmlns:r="http://schemas.openxmlformats.org/officeDocument/2006/relationships" id="259" r:id="R3474a78ee11c4d4a"/>
    <p:sldId xmlns:r="http://schemas.openxmlformats.org/officeDocument/2006/relationships" id="260" r:id="R2fe1a2972a1743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7cbdf96127496d" /><Relationship Type="http://schemas.openxmlformats.org/officeDocument/2006/relationships/slideMaster" Target="/ppt/slideMasters/slideMaster1.xml" Id="Ra16067ef85504019" /><Relationship Type="http://schemas.openxmlformats.org/officeDocument/2006/relationships/notesMaster" Target="/ppt/notesMasters/notesMaster1.xml" Id="R17e2efcb6e0542fa" /><Relationship Type="http://schemas.openxmlformats.org/officeDocument/2006/relationships/presProps" Target="/ppt/presProps.xml" Id="R16e87bdd39334727" /><Relationship Type="http://schemas.openxmlformats.org/officeDocument/2006/relationships/tableStyles" Target="/ppt/tableStyles.xml" Id="R7f4b068fcd4a497d" /><Relationship Type="http://schemas.openxmlformats.org/officeDocument/2006/relationships/slide" Target="/ppt/slides/slide1.xml" Id="R509aa907ae014cb7" /><Relationship Type="http://schemas.openxmlformats.org/officeDocument/2006/relationships/slide" Target="/ppt/slides/slide2.xml" Id="R5414cf47b76c47af" /><Relationship Type="http://schemas.openxmlformats.org/officeDocument/2006/relationships/slide" Target="/ppt/slides/slide3.xml" Id="Rb3cd930fb8634a6a" /><Relationship Type="http://schemas.openxmlformats.org/officeDocument/2006/relationships/slide" Target="/ppt/slides/slide4.xml" Id="R3474a78ee11c4d4a" /><Relationship Type="http://schemas.openxmlformats.org/officeDocument/2006/relationships/slide" Target="/ppt/slides/slide5.xml" Id="R2fe1a2972a1743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2f43647ca64e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4438268da44de8" /><Relationship Type="http://schemas.openxmlformats.org/officeDocument/2006/relationships/notesMaster" Target="/ppt/notesMasters/notesMaster1.xml" Id="R5dbe1ed696d54b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12c43344f64cd2" /><Relationship Type="http://schemas.openxmlformats.org/officeDocument/2006/relationships/notesMaster" Target="/ppt/notesMasters/notesMaster1.xml" Id="Re3dcf3e9e3b041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733c277616481d" /><Relationship Type="http://schemas.openxmlformats.org/officeDocument/2006/relationships/notesMaster" Target="/ppt/notesMasters/notesMaster1.xml" Id="Rc683b2c72b8148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2e879a6a264bdf" /><Relationship Type="http://schemas.openxmlformats.org/officeDocument/2006/relationships/notesMaster" Target="/ppt/notesMasters/notesMaster1.xml" Id="R87aaec98e31d4b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08acb8b1da440d" /><Relationship Type="http://schemas.openxmlformats.org/officeDocument/2006/relationships/notesMaster" Target="/ppt/notesMasters/notesMaster1.xml" Id="R00d03a69ec8143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crop team has two decisions: which plots deserve a visit now, and which hybrids deserve the next trial. FieldSignal connects those decisions using agronomic records and satellite observations. We studied 84 hybrids and 2,131 plots across five Nebraska and Iowa locations. This is a 2022 historical replay. Our forecasts are tested at locations withheld from training, while our hybrid shortlist is separately labeled as observed harvest evidence.</a:t>
            </a:r>
          </a:p>
          <a:p xmlns:a="http://schemas.openxmlformats.org/drawingml/2006/main">
            <a:r>
              <a:t/>
            </a:r>
          </a:p>
          <a:p xmlns:a="http://schemas.openxmlformats.org/drawingml/2006/main">
            <a:r>
              <a:t>Sources (not spoken): outputs/decision_brief/claims.json; outputs/broad_performance/claims.json</a:t>
            </a:r>
          </a:p>
          <a:p xmlns:a="http://schemas.openxmlformats.org/drawingml/2006/main">
            <a:r>
              <a:t>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imagery add? We held the plots, site folds and model settings constant. At day 75, agronomic records found 24 low-yield plots in 50 visits. Adding imagery found 30: six additional useful inspections. That is 60 percent precision, but only seven percent recall of all 428 low-yield plots. Nitrogen alone found six, although tied predictions make that comparison sensitive to plot ordering. Combined yield error was 45.5 bushels per acre, compared with 55.1 for the training mean.</a:t>
            </a:r>
          </a:p>
          <a:p xmlns:a="http://schemas.openxmlformats.org/drawingml/2006/main">
            <a:r>
              <a:t/>
            </a:r>
          </a:p>
          <a:p xmlns:a="http://schemas.openxmlformats.org/drawingml/2006/main">
            <a:r>
              <a:t>Sources (not spoken): outputs/decision_brief/model_comparison.csv; cutoff75, locationOverall. Nitrogen/mean top-K uses deterministic plot-ID tie-break.</a:t>
            </a:r>
          </a:p>
          <a:p xmlns:a="http://schemas.openxmlformats.org/drawingml/2006/main">
            <a:r>
              <a:t>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 warning rule is explicit. Starting at day 75, flag the lowest predicted fifth within each site, then inspect in priority order up to capacity. The screen found 163 of 428 eventual low-yield plots. In Ames, priority one was correctly reached. A very low-yield plot ranked thirteenth: it was flagged, but ten visits would miss it. Day 90 reduced yield error, yet screen recall fell. Scouts must establish the cause; the model does not diagnose stress or prescribe treatment.</a:t>
            </a:r>
          </a:p>
          <a:p xmlns:a="http://schemas.openxmlformats.org/drawingml/2006/main">
            <a:r>
              <a:t/>
            </a:r>
          </a:p>
          <a:p xmlns:a="http://schemas.openxmlformats.org/drawingml/2006/main">
            <a:r>
              <a:t>Sources (not spoken): outputs/decision_brief/warning_evaluation.csv; case_examples.csv. Both examples are actual-bottom20 and warning_flag true; the second is a capacity miss, not a screening miss.</a:t>
            </a:r>
          </a:p>
          <a:p xmlns:a="http://schemas.openxmlformats.org/drawingml/2006/main">
            <a:r>
              <a:t>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next trials, we keep observed findings separate from forecasts. We average replicates within treatments and weight sites equally. These five candidates exceed the median at every site; the weakest-site column prevents a strong average from hiding poor performance. They are promising in the observed environments, not proven across seasons. Management also varies: matched nitrogen contrasts range from minus 23.6 to plus 29.2 bushels per acre across four sites. Field placement may contribute, so these are not fertilizer recommendations.</a:t>
            </a:r>
          </a:p>
          <a:p xmlns:a="http://schemas.openxmlformats.org/drawingml/2006/main">
            <a:r>
              <a:t/>
            </a:r>
          </a:p>
          <a:p xmlns:a="http://schemas.openxmlformats.org/drawingml/2006/main">
            <a:r>
              <a:t>Sources (not spoken): outputs/broad_performance/observed_hybrids.csv; nitrogen_sites.csv; nitrogen_pairs.csv. Shortlist rule &gt;=4 sites above median, complete5sitecoverage; all5listed have5.</a:t>
            </a:r>
          </a:p>
          <a:p xmlns:a="http://schemas.openxmlformats.org/drawingml/2006/main">
            <a:r>
              <a:t>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day 90, combined CatBoost reaches 44 bushels per acre error, about twenty percent below the training mean, and recovers 4.6 of the observed top ten hybrids per site. Exploratory Ridge improves those figures, but site bias and ranking failures remain. We have demonstrated spatial transfer in 2022, not cross-season reliability or guaranteed yield gains. Our proposal is concrete: use the shortlist to prioritize replicated trials, record what scouts find, freeze the pipeline, and test it on untouched 2023 data.</a:t>
            </a:r>
          </a:p>
          <a:p xmlns:a="http://schemas.openxmlformats.org/drawingml/2006/main">
            <a:r>
              <a:t/>
            </a:r>
          </a:p>
          <a:p xmlns:a="http://schemas.openxmlformats.org/drawingml/2006/main">
            <a:r>
              <a:t>Sources (not spoken): outputs/broad_performance/yield_metrics.csv; ranking_metrics.csv. CatBoostcombined90 hybridSpearman0.451. Ridgecombined90MAE39.4349,overlap5,Spearman0.477; RidgeagronomySpearman0.527.</a:t>
            </a:r>
          </a:p>
          <a:p xmlns:a="http://schemas.openxmlformats.org/drawingml/2006/main">
            <a:r>
              <a:t>Scope: five locations in 2022. No cross-season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23e44245104d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698c353fab4568" /><Relationship Type="http://schemas.openxmlformats.org/officeDocument/2006/relationships/slideLayout" Target="/ppt/slideLayouts/slideLayout1.xml" Id="R0c26e12fb95640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26e12fb95640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5c7f846afd4e5a" /><Relationship Type="http://schemas.openxmlformats.org/officeDocument/2006/relationships/notesSlide" Target="/ppt/notesSlides/notesSlide1.xml" Id="R3d5a198e702646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5e275de26d4c1b" /><Relationship Type="http://schemas.openxmlformats.org/officeDocument/2006/relationships/chart" Target="/ppt/slides/charts/chart1.xml" Id="R23d49d7138404773" /><Relationship Type="http://schemas.openxmlformats.org/officeDocument/2006/relationships/notesSlide" Target="/ppt/notesSlides/notesSlide2.xml" Id="R7d6e5c7428b349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2b20223baf4edc" /><Relationship Type="http://schemas.openxmlformats.org/officeDocument/2006/relationships/chart" Target="/ppt/slides/charts/chart2.xml" Id="R505142e01ae74bf6" /><Relationship Type="http://schemas.openxmlformats.org/officeDocument/2006/relationships/notesSlide" Target="/ppt/notesSlides/notesSlide3.xml" Id="R209c88c4656241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8b850350634595" /><Relationship Type="http://schemas.openxmlformats.org/officeDocument/2006/relationships/notesSlide" Target="/ppt/notesSlides/notesSlide4.xml" Id="Rc5f2ff28ddef42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e90df83f7b468d" /><Relationship Type="http://schemas.openxmlformats.org/officeDocument/2006/relationships/notesSlide" Target="/ppt/notesSlides/notesSlide5.xml" Id="Rf4860228a4bd428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Low-yield plots found</c:v>
          </c:tx>
          <c:spPr>
            <a:solidFill xmlns:a="http://schemas.openxmlformats.org/drawingml/2006/main">
              <a:srgbClr val="2C744B"/>
            </a:solidFill>
          </c:spPr>
          <c:dPt>
            <c:idx val="0"/>
            <c:invertIfNegative val="0"/>
            <c:spPr>
              <a:solidFill xmlns:a="http://schemas.openxmlformats.org/drawingml/2006/main">
                <a:srgbClr val="B5BEAF"/>
              </a:solidFill>
            </c:spPr>
          </c:dPt>
          <c:dPt>
            <c:idx val="1"/>
            <c:invertIfNegative val="0"/>
            <c:spPr>
              <a:solidFill xmlns:a="http://schemas.openxmlformats.org/drawingml/2006/main">
                <a:srgbClr val="A3BC94"/>
              </a:solidFill>
            </c:spPr>
          </c:dPt>
          <c:dPt>
            <c:idx val="2"/>
            <c:invertIfNegative val="0"/>
            <c:spPr>
              <a:solidFill xmlns:a="http://schemas.openxmlformats.org/drawingml/2006/main">
                <a:srgbClr val="2C744B"/>
              </a:solidFill>
            </c:spPr>
          </c:dPt>
          <c:cat>
            <c:strRef>
              <c:f>'Chart Data'!$A$2:$A$4</c:f>
              <c:strCache>
                <c:ptCount val="3"/>
                <c:pt idx="0">
                  <c:v>Nitrogen only</c:v>
                </c:pt>
                <c:pt idx="1">
                  <c:v>Agronomic records</c:v>
                </c:pt>
                <c:pt idx="2">
                  <c:v>Agronomy + satellite</c:v>
                </c:pt>
              </c:strCache>
            </c:strRef>
          </c:cat>
          <c:val>
            <c:numRef>
              <c:f>'Chart Data'!$B$2:$B$4</c:f>
              <c:numCache>
                <c:formatCode>0</c:formatCode>
                <c:ptCount val="3"/>
                <c:pt idx="0">
                  <c:v>6</c:v>
                </c:pt>
                <c:pt idx="1">
                  <c:v>24</c:v>
                </c:pt>
                <c:pt idx="2">
                  <c:v>30</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0C6"/>
            </a:solidFill>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9DDD4"/>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Low-yield plots found / 50 visits</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50112"/>
        <c:crossBetween val="between"/>
        <c:majorUnit val="10"/>
      </c:valAx>
      <c:spPr>
        <a:solidFill xmlns:a="http://schemas.openxmlformats.org/drawingml/2006/main">
          <a:srgbClr val="F5F3E9"/>
        </a:solidFill>
        <a:ln xmlns:a="http://schemas.openxmlformats.org/drawingml/2006/main" w="0">
          <a:noFill/>
        </a:ln>
      </c:spPr>
    </c:plotArea>
    <c:plotVisOnly val="1"/>
  </c:chart>
  <c:spPr>
    <a:solidFill xmlns:a="http://schemas.openxmlformats.org/drawingml/2006/main">
      <a:srgbClr val="F5F3E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Screen recall (%)</c:v>
          </c:tx>
          <c:spPr>
            <a:solidFill xmlns:a="http://schemas.openxmlformats.org/drawingml/2006/main">
              <a:srgbClr val="AD7440"/>
            </a:solidFill>
          </c:spPr>
          <c:cat>
            <c:strRef>
              <c:f>'Chart Data'!$A$2:$A$3</c:f>
              <c:strCache>
                <c:ptCount val="2"/>
                <c:pt idx="0">
                  <c:v>Day 75</c:v>
                </c:pt>
                <c:pt idx="1">
                  <c:v>Day 90</c:v>
                </c:pt>
              </c:strCache>
            </c:strRef>
          </c:cat>
          <c:val>
            <c:numRef>
              <c:f>'Chart Data'!$B$2:$B$3</c:f>
              <c:numCache>
                <c:formatCode>0.0</c:formatCode>
                <c:ptCount val="2"/>
                <c:pt idx="0">
                  <c:v>38.1</c:v>
                </c:pt>
                <c:pt idx="1">
                  <c:v>32.9</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0C6"/>
            </a:solidFill>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9DDD4"/>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20% screen recall (%)</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2C"/>
                </a:solidFill>
                <a:latin typeface="Arial"/>
                <a:ea typeface="Arial"/>
                <a:cs typeface="Arial"/>
              </a:defRPr>
            </a:pPr>
          </a:p>
        </c:txPr>
        <c:crossAx val="48650112"/>
        <c:crossBetween val="between"/>
        <c:majorUnit val="10"/>
      </c:valAx>
      <c:spPr>
        <a:solidFill xmlns:a="http://schemas.openxmlformats.org/drawingml/2006/main">
          <a:srgbClr val="F5F3E9"/>
        </a:solidFill>
        <a:ln xmlns:a="http://schemas.openxmlformats.org/drawingml/2006/main" w="0">
          <a:noFill/>
        </a:ln>
      </c:spPr>
    </c:plotArea>
    <c:plotVisOnly val="1"/>
  </c:chart>
  <c:spPr>
    <a:solidFill xmlns:a="http://schemas.openxmlformats.org/drawingml/2006/main">
      <a:srgbClr val="F5F3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E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5566F1-B188-4CF8-9CEC-372187E44D6D}"/>
              </a:ext>
            </a:extLst>
          </p:cNvPr>
          <p:cNvSpPr>
            <a:spLocks xmlns:a="http://schemas.openxmlformats.org/drawingml/2006/main" noGrp="1"/>
          </p:cNvSpPr>
          <p:nvPr/>
        </p:nvSpPr>
        <p:spPr>
          <a:xfrm xmlns:a="http://schemas.openxmlformats.org/drawingml/2006/main">
            <a:off x="609600" y="5048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F5F3E9"/>
                </a:solidFill>
                <a:latin typeface="Arial"/>
                <a:ea typeface="Arial"/>
                <a:cs typeface="Arial"/>
              </a:defRPr>
            </a:pPr>
            <a:r>
              <a:rPr sz="2175" b="1">
                <a:solidFill>
                  <a:srgbClr val="F5F3E9"/>
                </a:solidFill>
                <a:latin typeface="Arial"/>
                <a:ea typeface="Arial"/>
                <a:cs typeface="Arial"/>
              </a:rPr>
              <a:t>CORNSTELLATION  /  FIELDSIGNAL</a:t>
            </a:r>
          </a:p>
        </p:txBody>
      </p:sp>
      <p:sp>
        <p:nvSpPr>
          <p:cNvPr id="2" name="">
            <a:extLst xmlns:a="http://schemas.openxmlformats.org/drawingml/2006/main">
              <a:ext uri="{FF2B5EF4-FFF2-40B4-BE49-F238E27FC236}">
                <a16:creationId xmlns:a16="http://schemas.microsoft.com/office/drawing/2014/main" id="{DC7E2100-C5EC-4AAE-AF33-256BF63E372A}"/>
              </a:ext>
            </a:extLst>
          </p:cNvPr>
          <p:cNvSpPr>
            <a:spLocks xmlns:a="http://schemas.openxmlformats.org/drawingml/2006/main" noGrp="1"/>
          </p:cNvSpPr>
          <p:nvPr/>
        </p:nvSpPr>
        <p:spPr>
          <a:xfrm xmlns:a="http://schemas.openxmlformats.org/drawingml/2006/main">
            <a:off x="609600" y="1571625"/>
            <a:ext cx="108585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00" b="1">
                <a:solidFill>
                  <a:srgbClr val="F5F3E9"/>
                </a:solidFill>
                <a:latin typeface="Arial"/>
                <a:ea typeface="Arial"/>
                <a:cs typeface="Arial"/>
              </a:defRPr>
            </a:pPr>
            <a:r>
              <a:rPr sz="4500" b="1">
                <a:solidFill>
                  <a:srgbClr val="F5F3E9"/>
                </a:solidFill>
                <a:latin typeface="Arial"/>
                <a:ea typeface="Arial"/>
                <a:cs typeface="Arial"/>
              </a:rPr>
              <a:t>Which plots need a visit?</a:t>
            </a:r>
          </a:p>
          <a:p xmlns:a="http://schemas.openxmlformats.org/drawingml/2006/main">
            <a:pPr>
              <a:defRPr sz="4500" b="1">
                <a:solidFill>
                  <a:srgbClr val="F5F3E9"/>
                </a:solidFill>
                <a:latin typeface="Arial"/>
                <a:ea typeface="Arial"/>
                <a:cs typeface="Arial"/>
              </a:defRPr>
            </a:pPr>
            <a:r>
              <a:rPr sz="4500" b="1">
                <a:solidFill>
                  <a:srgbClr val="F5F3E9"/>
                </a:solidFill>
                <a:latin typeface="Arial"/>
                <a:ea typeface="Arial"/>
                <a:cs typeface="Arial"/>
              </a:rPr>
              <a:t>Which hybrids deserve</a:t>
            </a:r>
          </a:p>
          <a:p xmlns:a="http://schemas.openxmlformats.org/drawingml/2006/main">
            <a:pPr>
              <a:defRPr sz="4500" b="1">
                <a:solidFill>
                  <a:srgbClr val="F5F3E9"/>
                </a:solidFill>
                <a:latin typeface="Arial"/>
                <a:ea typeface="Arial"/>
                <a:cs typeface="Arial"/>
              </a:defRPr>
            </a:pPr>
            <a:r>
              <a:rPr sz="4500" b="1">
                <a:solidFill>
                  <a:srgbClr val="F5F3E9"/>
                </a:solidFill>
                <a:latin typeface="Arial"/>
                <a:ea typeface="Arial"/>
                <a:cs typeface="Arial"/>
              </a:rPr>
              <a:t>the next trial?</a:t>
            </a:r>
          </a:p>
        </p:txBody>
      </p:sp>
      <p:sp>
        <p:nvSpPr>
          <p:cNvPr id="3" name="">
            <a:extLst xmlns:a="http://schemas.openxmlformats.org/drawingml/2006/main">
              <a:ext uri="{FF2B5EF4-FFF2-40B4-BE49-F238E27FC236}">
                <a16:creationId xmlns:a16="http://schemas.microsoft.com/office/drawing/2014/main" id="{D8AD6DA6-2D66-4FBA-BCAA-E1E76972445E}"/>
              </a:ext>
            </a:extLst>
          </p:cNvPr>
          <p:cNvSpPr>
            <a:spLocks xmlns:a="http://schemas.openxmlformats.org/drawingml/2006/main" noGrp="1"/>
          </p:cNvSpPr>
          <p:nvPr/>
        </p:nvSpPr>
        <p:spPr>
          <a:xfrm xmlns:a="http://schemas.openxmlformats.org/drawingml/2006/main">
            <a:off x="647700" y="4143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DBE8D9"/>
                </a:solidFill>
                <a:latin typeface="Arial"/>
                <a:ea typeface="Arial"/>
                <a:cs typeface="Arial"/>
              </a:defRPr>
            </a:pPr>
            <a:r>
              <a:rPr sz="2175" b="0">
                <a:solidFill>
                  <a:srgbClr val="DBE8D9"/>
                </a:solidFill>
                <a:latin typeface="Arial"/>
                <a:ea typeface="Arial"/>
                <a:cs typeface="Arial"/>
              </a:rPr>
              <a:t>Satellite-informed forecasts for better hybrid selection</a:t>
            </a:r>
          </a:p>
          <a:p xmlns:a="http://schemas.openxmlformats.org/drawingml/2006/main">
            <a:pPr>
              <a:defRPr sz="2175" b="0">
                <a:solidFill>
                  <a:srgbClr val="DBE8D9"/>
                </a:solidFill>
                <a:latin typeface="Arial"/>
                <a:ea typeface="Arial"/>
                <a:cs typeface="Arial"/>
              </a:defRPr>
            </a:pPr>
            <a:r>
              <a:rPr sz="2175" b="0">
                <a:solidFill>
                  <a:srgbClr val="DBE8D9"/>
                </a:solidFill>
                <a:latin typeface="Arial"/>
                <a:ea typeface="Arial"/>
                <a:cs typeface="Arial"/>
              </a:rPr>
              <a:t>across environments.</a:t>
            </a:r>
          </a:p>
        </p:txBody>
      </p:sp>
      <p:sp>
        <p:nvSpPr>
          <p:cNvPr id="4" name="">
            <a:extLst xmlns:a="http://schemas.openxmlformats.org/drawingml/2006/main">
              <a:ext uri="{FF2B5EF4-FFF2-40B4-BE49-F238E27FC236}">
                <a16:creationId xmlns:a16="http://schemas.microsoft.com/office/drawing/2014/main" id="{2441178E-4DBA-4EF4-8B1C-FCB9C140F747}"/>
              </a:ext>
            </a:extLst>
          </p:cNvPr>
          <p:cNvSpPr>
            <a:spLocks xmlns:a="http://schemas.openxmlformats.org/drawingml/2006/main" noGrp="1"/>
          </p:cNvSpPr>
          <p:nvPr/>
        </p:nvSpPr>
        <p:spPr>
          <a:xfrm xmlns:a="http://schemas.openxmlformats.org/drawingml/2006/main">
            <a:off x="647700" y="5314950"/>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F5F3E9"/>
                </a:solidFill>
                <a:latin typeface="Arial"/>
                <a:ea typeface="Arial"/>
                <a:cs typeface="Arial"/>
              </a:defRPr>
            </a:pPr>
            <a:r>
              <a:rPr sz="2400" b="1">
                <a:solidFill>
                  <a:srgbClr val="F5F3E9"/>
                </a:solidFill>
                <a:latin typeface="Arial"/>
                <a:ea typeface="Arial"/>
                <a:cs typeface="Arial"/>
              </a:rPr>
              <a:t>84 hybrids     5 locations     2,131 labeled plots</a:t>
            </a:r>
          </a:p>
        </p:txBody>
      </p:sp>
      <p:sp>
        <p:nvSpPr>
          <p:cNvPr id="5" name="">
            <a:extLst xmlns:a="http://schemas.openxmlformats.org/drawingml/2006/main">
              <a:ext uri="{FF2B5EF4-FFF2-40B4-BE49-F238E27FC236}">
                <a16:creationId xmlns:a16="http://schemas.microsoft.com/office/drawing/2014/main" id="{8B8DD5D8-FE7C-49CB-9945-2080E6CF7BE3}"/>
              </a:ext>
            </a:extLst>
          </p:cNvPr>
          <p:cNvSpPr>
            <a:spLocks xmlns:a="http://schemas.openxmlformats.org/drawingml/2006/main" noGrp="1"/>
          </p:cNvSpPr>
          <p:nvPr/>
        </p:nvSpPr>
        <p:spPr>
          <a:xfrm xmlns:a="http://schemas.openxmlformats.org/drawingml/2006/main">
            <a:off x="647700" y="60864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DBE8D9"/>
                </a:solidFill>
                <a:latin typeface="Arial"/>
                <a:ea typeface="Arial"/>
                <a:cs typeface="Arial"/>
              </a:defRPr>
            </a:pPr>
            <a:r>
              <a:rPr sz="1650" b="0">
                <a:solidFill>
                  <a:srgbClr val="DBE8D9"/>
                </a:solidFill>
                <a:latin typeface="Arial"/>
                <a:ea typeface="Arial"/>
                <a:cs typeface="Arial"/>
              </a:rPr>
              <a:t>Nebraska and Iowa, 2022  •  Historical replay, not a live alert</a:t>
            </a:r>
          </a:p>
        </p:txBody>
      </p:sp>
    </p:spTree>
    <p:extLst>
      <p:ext uri="{BB962C8B-B14F-4D97-AF65-F5344CB8AC3E}">
        <p14:creationId xmlns:p14="http://schemas.microsoft.com/office/powerpoint/2010/main" val="1724681378"/>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7A2891-FF46-4110-A274-1D26CAAC0481}"/>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3E2C"/>
                </a:solidFill>
                <a:latin typeface="Arial"/>
                <a:ea typeface="Arial"/>
                <a:cs typeface="Arial"/>
              </a:defRPr>
            </a:pPr>
            <a:r>
              <a:rPr sz="3300" b="1">
                <a:solidFill>
                  <a:srgbClr val="173E2C"/>
                </a:solidFill>
                <a:latin typeface="Arial"/>
                <a:ea typeface="Arial"/>
                <a:cs typeface="Arial"/>
              </a:rPr>
              <a:t>Imagery found 6 more low-yield plots</a:t>
            </a:r>
          </a:p>
        </p:txBody>
      </p:sp>
      <p:sp>
        <p:nvSpPr>
          <p:cNvPr id="2" name="">
            <a:extLst xmlns:a="http://schemas.openxmlformats.org/drawingml/2006/main">
              <a:ext uri="{FF2B5EF4-FFF2-40B4-BE49-F238E27FC236}">
                <a16:creationId xmlns:a16="http://schemas.microsoft.com/office/drawing/2014/main" id="{FFABE3FB-4E82-496B-9669-5FF23C252FDB}"/>
              </a:ext>
            </a:extLst>
          </p:cNvPr>
          <p:cNvSpPr>
            <a:spLocks xmlns:a="http://schemas.openxmlformats.org/drawingml/2006/main" noGrp="1"/>
          </p:cNvSpPr>
          <p:nvPr/>
        </p:nvSpPr>
        <p:spPr>
          <a:xfrm xmlns:a="http://schemas.openxmlformats.org/drawingml/2006/main">
            <a:off x="609600" y="1257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Day 75: 10 inspections per site, 50 total; identical held-out plots and CatBoost settings</a:t>
            </a:r>
          </a:p>
        </p:txBody>
      </p:sp>
      <p:graphicFrame>
        <p:nvGraphicFramePr>
          <p:cNvPr id="12" name="Chart"/>
          <p:cNvGraphicFramePr/>
          <p:nvPr/>
        </p:nvGraphicFramePr>
        <p:xfrm>
          <a:off xmlns:a="http://schemas.openxmlformats.org/drawingml/2006/main" x="609600" y="2124075"/>
          <a:ext xmlns:a="http://schemas.openxmlformats.org/drawingml/2006/main" cx="7286625" cy="3181350"/>
        </p:xfrm>
        <a:graphic xmlns:a="http://schemas.openxmlformats.org/drawingml/2006/main">
          <a:graphicData uri="http://schemas.openxmlformats.org/drawingml/2006/chart">
            <c:chart xmlns:r="http://schemas.openxmlformats.org/officeDocument/2006/relationships" xmlns:c="http://schemas.openxmlformats.org/drawingml/2006/chart" r:id="R23d49d7138404773"/>
          </a:graphicData>
        </a:graphic>
      </p:graphicFrame>
      <p:sp>
        <p:nvSpPr>
          <p:cNvPr id="4" name="">
            <a:extLst xmlns:a="http://schemas.openxmlformats.org/drawingml/2006/main">
              <a:ext uri="{FF2B5EF4-FFF2-40B4-BE49-F238E27FC236}">
                <a16:creationId xmlns:a16="http://schemas.microsoft.com/office/drawing/2014/main" id="{A72A7E76-1CDF-4FC2-9759-0D2CE93F3AB8}"/>
              </a:ext>
            </a:extLst>
          </p:cNvPr>
          <p:cNvSpPr>
            <a:spLocks xmlns:a="http://schemas.openxmlformats.org/drawingml/2006/main" noGrp="1"/>
          </p:cNvSpPr>
          <p:nvPr/>
        </p:nvSpPr>
        <p:spPr>
          <a:xfrm xmlns:a="http://schemas.openxmlformats.org/drawingml/2006/main">
            <a:off x="8420100" y="2143125"/>
            <a:ext cx="3105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73E2C"/>
                </a:solidFill>
                <a:latin typeface="Arial"/>
                <a:ea typeface="Arial"/>
                <a:cs typeface="Arial"/>
              </a:defRPr>
            </a:pPr>
            <a:r>
              <a:rPr sz="3000" b="1">
                <a:solidFill>
                  <a:srgbClr val="173E2C"/>
                </a:solidFill>
                <a:latin typeface="Arial"/>
                <a:ea typeface="Arial"/>
                <a:cs typeface="Arial"/>
              </a:rPr>
              <a:t>60% precision</a:t>
            </a:r>
          </a:p>
        </p:txBody>
      </p:sp>
      <p:sp>
        <p:nvSpPr>
          <p:cNvPr id="5" name="">
            <a:extLst xmlns:a="http://schemas.openxmlformats.org/drawingml/2006/main">
              <a:ext uri="{FF2B5EF4-FFF2-40B4-BE49-F238E27FC236}">
                <a16:creationId xmlns:a16="http://schemas.microsoft.com/office/drawing/2014/main" id="{9B28CF08-98CC-4917-BC30-BAA7CA72E10B}"/>
              </a:ext>
            </a:extLst>
          </p:cNvPr>
          <p:cNvSpPr>
            <a:spLocks xmlns:a="http://schemas.openxmlformats.org/drawingml/2006/main" noGrp="1"/>
          </p:cNvSpPr>
          <p:nvPr/>
        </p:nvSpPr>
        <p:spPr>
          <a:xfrm xmlns:a="http://schemas.openxmlformats.org/drawingml/2006/main">
            <a:off x="8458200" y="2895600"/>
            <a:ext cx="3009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73E2C"/>
                </a:solidFill>
                <a:latin typeface="Arial"/>
                <a:ea typeface="Arial"/>
                <a:cs typeface="Arial"/>
              </a:defRPr>
            </a:pPr>
            <a:r>
              <a:rPr sz="1950" b="0">
                <a:solidFill>
                  <a:srgbClr val="173E2C"/>
                </a:solidFill>
                <a:latin typeface="Arial"/>
                <a:ea typeface="Arial"/>
                <a:cs typeface="Arial"/>
              </a:rPr>
              <a:t>30 of 50 visits reached</a:t>
            </a:r>
          </a:p>
          <a:p xmlns:a="http://schemas.openxmlformats.org/drawingml/2006/main">
            <a:pPr>
              <a:defRPr sz="1950" b="0">
                <a:solidFill>
                  <a:srgbClr val="173E2C"/>
                </a:solidFill>
                <a:latin typeface="Arial"/>
                <a:ea typeface="Arial"/>
                <a:cs typeface="Arial"/>
              </a:defRPr>
            </a:pPr>
            <a:r>
              <a:rPr sz="1950" b="0">
                <a:solidFill>
                  <a:srgbClr val="173E2C"/>
                </a:solidFill>
                <a:latin typeface="Arial"/>
                <a:ea typeface="Arial"/>
                <a:cs typeface="Arial"/>
              </a:rPr>
              <a:t>a bottom-20% yield plot.</a:t>
            </a:r>
          </a:p>
        </p:txBody>
      </p:sp>
      <p:sp>
        <p:nvSpPr>
          <p:cNvPr id="6" name="">
            <a:extLst xmlns:a="http://schemas.openxmlformats.org/drawingml/2006/main">
              <a:ext uri="{FF2B5EF4-FFF2-40B4-BE49-F238E27FC236}">
                <a16:creationId xmlns:a16="http://schemas.microsoft.com/office/drawing/2014/main" id="{CAD49D63-F542-4B7A-B369-7040F1DAC1C2}"/>
              </a:ext>
            </a:extLst>
          </p:cNvPr>
          <p:cNvSpPr>
            <a:spLocks xmlns:a="http://schemas.openxmlformats.org/drawingml/2006/main" noGrp="1"/>
          </p:cNvSpPr>
          <p:nvPr/>
        </p:nvSpPr>
        <p:spPr>
          <a:xfrm xmlns:a="http://schemas.openxmlformats.org/drawingml/2006/main">
            <a:off x="8420100" y="4038600"/>
            <a:ext cx="310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a:solidFill>
                  <a:srgbClr val="AD7440"/>
                </a:solidFill>
                <a:latin typeface="Arial"/>
                <a:ea typeface="Arial"/>
                <a:cs typeface="Arial"/>
              </a:defRPr>
            </a:pPr>
            <a:r>
              <a:rPr sz="2625" b="1">
                <a:solidFill>
                  <a:srgbClr val="AD7440"/>
                </a:solidFill>
                <a:latin typeface="Arial"/>
                <a:ea typeface="Arial"/>
                <a:cs typeface="Arial"/>
              </a:rPr>
              <a:t>7% recall</a:t>
            </a:r>
          </a:p>
        </p:txBody>
      </p:sp>
      <p:sp>
        <p:nvSpPr>
          <p:cNvPr id="7" name="">
            <a:extLst xmlns:a="http://schemas.openxmlformats.org/drawingml/2006/main">
              <a:ext uri="{FF2B5EF4-FFF2-40B4-BE49-F238E27FC236}">
                <a16:creationId xmlns:a16="http://schemas.microsoft.com/office/drawing/2014/main" id="{90EF215B-9DF4-4EA9-A100-16B18EF2C9FB}"/>
              </a:ext>
            </a:extLst>
          </p:cNvPr>
          <p:cNvSpPr>
            <a:spLocks xmlns:a="http://schemas.openxmlformats.org/drawingml/2006/main" noGrp="1"/>
          </p:cNvSpPr>
          <p:nvPr/>
        </p:nvSpPr>
        <p:spPr>
          <a:xfrm xmlns:a="http://schemas.openxmlformats.org/drawingml/2006/main">
            <a:off x="8458200" y="4638675"/>
            <a:ext cx="3009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30 of all 428 low-yield</a:t>
            </a:r>
          </a:p>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plots were reached.</a:t>
            </a:r>
          </a:p>
        </p:txBody>
      </p:sp>
      <p:sp>
        <p:nvSpPr>
          <p:cNvPr id="8" name="">
            <a:extLst xmlns:a="http://schemas.openxmlformats.org/drawingml/2006/main">
              <a:ext uri="{FF2B5EF4-FFF2-40B4-BE49-F238E27FC236}">
                <a16:creationId xmlns:a16="http://schemas.microsoft.com/office/drawing/2014/main" id="{DE4E6462-6223-4E31-8111-6C1E7C64FDF0}"/>
              </a:ext>
            </a:extLst>
          </p:cNvPr>
          <p:cNvSpPr>
            <a:spLocks xmlns:a="http://schemas.openxmlformats.org/drawingml/2006/main" noGrp="1"/>
          </p:cNvSpPr>
          <p:nvPr/>
        </p:nvSpPr>
        <p:spPr>
          <a:xfrm xmlns:a="http://schemas.openxmlformats.org/drawingml/2006/main">
            <a:off x="609600" y="556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3E2C"/>
                </a:solidFill>
                <a:latin typeface="Arial"/>
                <a:ea typeface="Arial"/>
                <a:cs typeface="Arial"/>
              </a:defRPr>
            </a:pPr>
            <a:r>
              <a:rPr sz="1725" b="1">
                <a:solidFill>
                  <a:srgbClr val="173E2C"/>
                </a:solidFill>
                <a:latin typeface="Arial"/>
                <a:ea typeface="Arial"/>
                <a:cs typeface="Arial"/>
              </a:rPr>
              <a:t>MAE (bu/ac): 59.7 nitrogen  |  72.1 agronomy  |  45.5 combined  |  55.1 mean</a:t>
            </a:r>
          </a:p>
        </p:txBody>
      </p:sp>
      <p:sp>
        <p:nvSpPr>
          <p:cNvPr id="9" name="">
            <a:extLst xmlns:a="http://schemas.openxmlformats.org/drawingml/2006/main">
              <a:ext uri="{FF2B5EF4-FFF2-40B4-BE49-F238E27FC236}">
                <a16:creationId xmlns:a16="http://schemas.microsoft.com/office/drawing/2014/main" id="{E5731031-AFB6-4F45-A119-66DD566CC710}"/>
              </a:ext>
            </a:extLst>
          </p:cNvPr>
          <p:cNvSpPr>
            <a:spLocks xmlns:a="http://schemas.openxmlformats.org/drawingml/2006/main" noGrp="1"/>
          </p:cNvSpPr>
          <p:nvPr/>
        </p:nvSpPr>
        <p:spPr>
          <a:xfrm xmlns:a="http://schemas.openxmlformats.org/drawingml/2006/main">
            <a:off x="609600" y="62293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56358"/>
                </a:solidFill>
                <a:latin typeface="Arial"/>
                <a:ea typeface="Arial"/>
                <a:cs typeface="Arial"/>
              </a:defRPr>
            </a:pPr>
            <a:r>
              <a:rPr sz="1275" b="0">
                <a:solidFill>
                  <a:srgbClr val="556358"/>
                </a:solidFill>
                <a:latin typeface="Arial"/>
                <a:ea typeface="Arial"/>
                <a:cs typeface="Arial"/>
              </a:rPr>
              <a:t>Target: actual bottom 20% within each site. Nitrogen-only predictions tie by rate; selection then depends on plot ID.</a:t>
            </a:r>
          </a:p>
        </p:txBody>
      </p:sp>
    </p:spTree>
    <p:extLst>
      <p:ext uri="{BB962C8B-B14F-4D97-AF65-F5344CB8AC3E}">
        <p14:creationId xmlns:p14="http://schemas.microsoft.com/office/powerpoint/2010/main" val="878814684"/>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A55125-0124-49D4-B6CD-7CB0DD85F0C5}"/>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3E2C"/>
                </a:solidFill>
                <a:latin typeface="Arial"/>
                <a:ea typeface="Arial"/>
                <a:cs typeface="Arial"/>
              </a:defRPr>
            </a:pPr>
            <a:r>
              <a:rPr sz="3300" b="1">
                <a:solidFill>
                  <a:srgbClr val="173E2C"/>
                </a:solidFill>
                <a:latin typeface="Arial"/>
                <a:ea typeface="Arial"/>
                <a:cs typeface="Arial"/>
              </a:rPr>
              <a:t>Day 75: flag, rank, then inspect</a:t>
            </a:r>
          </a:p>
        </p:txBody>
      </p:sp>
      <p:sp>
        <p:nvSpPr>
          <p:cNvPr id="2" name="">
            <a:extLst xmlns:a="http://schemas.openxmlformats.org/drawingml/2006/main">
              <a:ext uri="{FF2B5EF4-FFF2-40B4-BE49-F238E27FC236}">
                <a16:creationId xmlns:a16="http://schemas.microsoft.com/office/drawing/2014/main" id="{5EAED80E-4238-4DA5-B3F0-DC00A0999825}"/>
              </a:ext>
            </a:extLst>
          </p:cNvPr>
          <p:cNvSpPr>
            <a:spLocks xmlns:a="http://schemas.openxmlformats.org/drawingml/2006/main" noGrp="1"/>
          </p:cNvSpPr>
          <p:nvPr/>
        </p:nvSpPr>
        <p:spPr>
          <a:xfrm xmlns:a="http://schemas.openxmlformats.org/drawingml/2006/main">
            <a:off x="609600" y="1257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Candidate rule: flag the lowest predicted 20% within a site; visit in order up to capacity</a:t>
            </a:r>
          </a:p>
        </p:txBody>
      </p:sp>
      <p:sp>
        <p:nvSpPr>
          <p:cNvPr id="3" name="">
            <a:extLst xmlns:a="http://schemas.openxmlformats.org/drawingml/2006/main">
              <a:ext uri="{FF2B5EF4-FFF2-40B4-BE49-F238E27FC236}">
                <a16:creationId xmlns:a16="http://schemas.microsoft.com/office/drawing/2014/main" id="{CDBD026E-576A-469E-B65B-7BA5FE13C375}"/>
              </a:ext>
            </a:extLst>
          </p:cNvPr>
          <p:cNvSpPr>
            <a:spLocks xmlns:a="http://schemas.openxmlformats.org/drawingml/2006/main" noGrp="1"/>
          </p:cNvSpPr>
          <p:nvPr/>
        </p:nvSpPr>
        <p:spPr>
          <a:xfrm xmlns:a="http://schemas.openxmlformats.org/drawingml/2006/main">
            <a:off x="609600" y="2143125"/>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a:solidFill>
                  <a:srgbClr val="173E2C"/>
                </a:solidFill>
                <a:latin typeface="Arial"/>
                <a:ea typeface="Arial"/>
                <a:cs typeface="Arial"/>
              </a:defRPr>
            </a:pPr>
            <a:r>
              <a:rPr sz="2625" b="1">
                <a:solidFill>
                  <a:srgbClr val="173E2C"/>
                </a:solidFill>
                <a:latin typeface="Arial"/>
                <a:ea typeface="Arial"/>
                <a:cs typeface="Arial"/>
              </a:rPr>
              <a:t>38% of low-yield plots captured</a:t>
            </a:r>
          </a:p>
        </p:txBody>
      </p:sp>
      <p:sp>
        <p:nvSpPr>
          <p:cNvPr id="4" name="">
            <a:extLst xmlns:a="http://schemas.openxmlformats.org/drawingml/2006/main">
              <a:ext uri="{FF2B5EF4-FFF2-40B4-BE49-F238E27FC236}">
                <a16:creationId xmlns:a16="http://schemas.microsoft.com/office/drawing/2014/main" id="{5F3B7506-909D-46F1-A947-7B307FEF44B8}"/>
              </a:ext>
            </a:extLst>
          </p:cNvPr>
          <p:cNvSpPr>
            <a:spLocks xmlns:a="http://schemas.openxmlformats.org/drawingml/2006/main" noGrp="1"/>
          </p:cNvSpPr>
          <p:nvPr/>
        </p:nvSpPr>
        <p:spPr>
          <a:xfrm xmlns:a="http://schemas.openxmlformats.org/drawingml/2006/main">
            <a:off x="647700" y="2771775"/>
            <a:ext cx="6419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3E2C"/>
                </a:solidFill>
                <a:latin typeface="Arial"/>
                <a:ea typeface="Arial"/>
                <a:cs typeface="Arial"/>
              </a:defRPr>
            </a:pPr>
            <a:r>
              <a:rPr sz="2025" b="0">
                <a:solidFill>
                  <a:srgbClr val="173E2C"/>
                </a:solidFill>
                <a:latin typeface="Arial"/>
                <a:ea typeface="Arial"/>
                <a:cs typeface="Arial"/>
              </a:rPr>
              <a:t>The 20% screen found 163 of 428.</a:t>
            </a:r>
          </a:p>
          <a:p xmlns:a="http://schemas.openxmlformats.org/drawingml/2006/main">
            <a:pPr>
              <a:defRPr sz="2025" b="0">
                <a:solidFill>
                  <a:srgbClr val="173E2C"/>
                </a:solidFill>
                <a:latin typeface="Arial"/>
                <a:ea typeface="Arial"/>
                <a:cs typeface="Arial"/>
              </a:defRPr>
            </a:pPr>
            <a:r>
              <a:rPr sz="2025" b="0">
                <a:solidFill>
                  <a:srgbClr val="173E2C"/>
                </a:solidFill>
                <a:latin typeface="Arial"/>
                <a:ea typeface="Arial"/>
                <a:cs typeface="Arial"/>
              </a:rPr>
              <a:t>It is a screening rule, not a stress diagnosis.</a:t>
            </a:r>
          </a:p>
        </p:txBody>
      </p:sp>
      <p:sp>
        <p:nvSpPr>
          <p:cNvPr id="5" name="">
            <a:extLst xmlns:a="http://schemas.openxmlformats.org/drawingml/2006/main">
              <a:ext uri="{FF2B5EF4-FFF2-40B4-BE49-F238E27FC236}">
                <a16:creationId xmlns:a16="http://schemas.microsoft.com/office/drawing/2014/main" id="{68889E4F-E39A-4E38-ABBA-2330D98C2247}"/>
              </a:ext>
            </a:extLst>
          </p:cNvPr>
          <p:cNvSpPr>
            <a:spLocks xmlns:a="http://schemas.openxmlformats.org/drawingml/2006/main" noGrp="1"/>
          </p:cNvSpPr>
          <p:nvPr/>
        </p:nvSpPr>
        <p:spPr>
          <a:xfrm xmlns:a="http://schemas.openxmlformats.org/drawingml/2006/main">
            <a:off x="609600" y="3914775"/>
            <a:ext cx="6705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73E2C"/>
                </a:solidFill>
                <a:latin typeface="Arial"/>
                <a:ea typeface="Arial"/>
                <a:cs typeface="Arial"/>
              </a:defRPr>
            </a:pPr>
            <a:r>
              <a:rPr sz="2175" b="1">
                <a:solidFill>
                  <a:srgbClr val="173E2C"/>
                </a:solidFill>
                <a:latin typeface="Arial"/>
                <a:ea typeface="Arial"/>
                <a:cs typeface="Arial"/>
              </a:rPr>
              <a:t>Ames: success and a capacity miss</a:t>
            </a:r>
          </a:p>
        </p:txBody>
      </p:sp>
      <p:sp>
        <p:nvSpPr>
          <p:cNvPr id="6" name="">
            <a:extLst xmlns:a="http://schemas.openxmlformats.org/drawingml/2006/main">
              <a:ext uri="{FF2B5EF4-FFF2-40B4-BE49-F238E27FC236}">
                <a16:creationId xmlns:a16="http://schemas.microsoft.com/office/drawing/2014/main" id="{18478898-C489-4384-B8B2-00731CA49E20}"/>
              </a:ext>
            </a:extLst>
          </p:cNvPr>
          <p:cNvSpPr>
            <a:spLocks xmlns:a="http://schemas.openxmlformats.org/drawingml/2006/main" noGrp="1"/>
          </p:cNvSpPr>
          <p:nvPr/>
        </p:nvSpPr>
        <p:spPr>
          <a:xfrm xmlns:a="http://schemas.openxmlformats.org/drawingml/2006/main">
            <a:off x="647700" y="4495800"/>
            <a:ext cx="6705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3E2C"/>
                </a:solidFill>
                <a:latin typeface="Arial"/>
                <a:ea typeface="Arial"/>
                <a:cs typeface="Arial"/>
              </a:defRPr>
            </a:pPr>
            <a:r>
              <a:rPr sz="2025" b="0">
                <a:solidFill>
                  <a:srgbClr val="173E2C"/>
                </a:solidFill>
                <a:latin typeface="Arial"/>
                <a:ea typeface="Arial"/>
                <a:cs typeface="Arial"/>
              </a:rPr>
              <a:t>Priority 1: forecast 74, harvest 66 bu/ac</a:t>
            </a:r>
          </a:p>
          <a:p xmlns:a="http://schemas.openxmlformats.org/drawingml/2006/main">
            <a:pPr>
              <a:defRPr sz="2025" b="0">
                <a:solidFill>
                  <a:srgbClr val="173E2C"/>
                </a:solidFill>
                <a:latin typeface="Arial"/>
                <a:ea typeface="Arial"/>
                <a:cs typeface="Arial"/>
              </a:defRPr>
            </a:pPr>
            <a:r>
              <a:rPr sz="2025" b="0">
                <a:solidFill>
                  <a:srgbClr val="173E2C"/>
                </a:solidFill>
                <a:latin typeface="Arial"/>
                <a:ea typeface="Arial"/>
                <a:cs typeface="Arial"/>
              </a:rPr>
              <a:t>Priority 13: forecast 90, harvest 27 bu/ac</a:t>
            </a:r>
          </a:p>
        </p:txBody>
      </p:sp>
      <p:sp>
        <p:nvSpPr>
          <p:cNvPr id="7" name="">
            <a:extLst xmlns:a="http://schemas.openxmlformats.org/drawingml/2006/main">
              <a:ext uri="{FF2B5EF4-FFF2-40B4-BE49-F238E27FC236}">
                <a16:creationId xmlns:a16="http://schemas.microsoft.com/office/drawing/2014/main" id="{7A4DC4FB-7E9D-47E2-8A35-1024DEDBDA7D}"/>
              </a:ext>
            </a:extLst>
          </p:cNvPr>
          <p:cNvSpPr>
            <a:spLocks xmlns:a="http://schemas.openxmlformats.org/drawingml/2006/main" noGrp="1"/>
          </p:cNvSpPr>
          <p:nvPr/>
        </p:nvSpPr>
        <p:spPr>
          <a:xfrm xmlns:a="http://schemas.openxmlformats.org/drawingml/2006/main">
            <a:off x="647700" y="5486400"/>
            <a:ext cx="670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56358"/>
                </a:solidFill>
                <a:latin typeface="Arial"/>
                <a:ea typeface="Arial"/>
                <a:cs typeface="Arial"/>
              </a:defRPr>
            </a:pPr>
            <a:r>
              <a:rPr sz="1650" b="0">
                <a:solidFill>
                  <a:srgbClr val="556358"/>
                </a:solidFill>
                <a:latin typeface="Arial"/>
                <a:ea typeface="Arial"/>
                <a:cs typeface="Arial"/>
              </a:rPr>
              <a:t>Both flagged. Only priority 1 fits 10 visits.</a:t>
            </a:r>
          </a:p>
        </p:txBody>
      </p:sp>
      <p:graphicFrame>
        <p:nvGraphicFramePr>
          <p:cNvPr id="17" name="Chart"/>
          <p:cNvGraphicFramePr/>
          <p:nvPr/>
        </p:nvGraphicFramePr>
        <p:xfrm>
          <a:off xmlns:a="http://schemas.openxmlformats.org/drawingml/2006/main" x="7848600" y="2133600"/>
          <a:ext xmlns:a="http://schemas.openxmlformats.org/drawingml/2006/main" cx="3676650" cy="3238500"/>
        </p:xfrm>
        <a:graphic xmlns:a="http://schemas.openxmlformats.org/drawingml/2006/main">
          <a:graphicData uri="http://schemas.openxmlformats.org/drawingml/2006/chart">
            <c:chart xmlns:r="http://schemas.openxmlformats.org/officeDocument/2006/relationships" xmlns:c="http://schemas.openxmlformats.org/drawingml/2006/chart" r:id="R505142e01ae74bf6"/>
          </a:graphicData>
        </a:graphic>
      </p:graphicFrame>
      <p:sp>
        <p:nvSpPr>
          <p:cNvPr id="9" name="">
            <a:extLst xmlns:a="http://schemas.openxmlformats.org/drawingml/2006/main">
              <a:ext uri="{FF2B5EF4-FFF2-40B4-BE49-F238E27FC236}">
                <a16:creationId xmlns:a16="http://schemas.microsoft.com/office/drawing/2014/main" id="{96C85E52-C262-461E-8C59-61D58E892840}"/>
              </a:ext>
            </a:extLst>
          </p:cNvPr>
          <p:cNvSpPr>
            <a:spLocks xmlns:a="http://schemas.openxmlformats.org/drawingml/2006/main" noGrp="1"/>
          </p:cNvSpPr>
          <p:nvPr/>
        </p:nvSpPr>
        <p:spPr>
          <a:xfrm xmlns:a="http://schemas.openxmlformats.org/drawingml/2006/main">
            <a:off x="609600" y="62293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56358"/>
                </a:solidFill>
                <a:latin typeface="Arial"/>
                <a:ea typeface="Arial"/>
                <a:cs typeface="Arial"/>
              </a:defRPr>
            </a:pPr>
            <a:r>
              <a:rPr sz="1275" b="0">
                <a:solidFill>
                  <a:srgbClr val="556358"/>
                </a:solidFill>
                <a:latin typeface="Arial"/>
                <a:ea typeface="Arial"/>
                <a:cs typeface="Arial"/>
              </a:rPr>
              <a:t>Threshold is site-relative. Image age and NDVI change are context. Harvest labels appear only in this retrospective evaluation.</a:t>
            </a:r>
          </a:p>
        </p:txBody>
      </p:sp>
    </p:spTree>
    <p:extLst>
      <p:ext uri="{BB962C8B-B14F-4D97-AF65-F5344CB8AC3E}">
        <p14:creationId xmlns:p14="http://schemas.microsoft.com/office/powerpoint/2010/main" val="1018337243"/>
      </p:ext>
    </p:extLst>
  </p:cSld>
</p:sld>
</file>

<file path=ppt/slides/slide4.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9BF5B2-4098-4FEA-BD80-68B1111C96C9}"/>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3E2C"/>
                </a:solidFill>
                <a:latin typeface="Arial"/>
                <a:ea typeface="Arial"/>
                <a:cs typeface="Arial"/>
              </a:defRPr>
            </a:pPr>
            <a:r>
              <a:rPr sz="3300" b="1">
                <a:solidFill>
                  <a:srgbClr val="173E2C"/>
                </a:solidFill>
                <a:latin typeface="Arial"/>
                <a:ea typeface="Arial"/>
                <a:cs typeface="Arial"/>
              </a:rPr>
              <a:t>Five candidates for the next replicated trials</a:t>
            </a:r>
          </a:p>
        </p:txBody>
      </p:sp>
      <p:sp>
        <p:nvSpPr>
          <p:cNvPr id="2" name="">
            <a:extLst xmlns:a="http://schemas.openxmlformats.org/drawingml/2006/main">
              <a:ext uri="{FF2B5EF4-FFF2-40B4-BE49-F238E27FC236}">
                <a16:creationId xmlns:a16="http://schemas.microsoft.com/office/drawing/2014/main" id="{2BD55698-931E-4CA5-BEF9-D8FEE4C336F7}"/>
              </a:ext>
            </a:extLst>
          </p:cNvPr>
          <p:cNvSpPr>
            <a:spLocks xmlns:a="http://schemas.openxmlformats.org/drawingml/2006/main" noGrp="1"/>
          </p:cNvSpPr>
          <p:nvPr/>
        </p:nvSpPr>
        <p:spPr>
          <a:xfrm xmlns:a="http://schemas.openxmlformats.org/drawingml/2006/main">
            <a:off x="609600" y="1257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Observed harvest shortlist: all five exceed the median at every site</a:t>
            </a:r>
          </a:p>
        </p:txBody>
      </p:sp>
      <p:graphicFrame>
        <p:nvGraphicFramePr>
          <p:cNvPr id="9" name=""/>
          <p:cNvGraphicFramePr/>
          <p:nvPr/>
        </p:nvGraphicFramePr>
        <p:xfrm>
          <a:off xmlns:a="http://schemas.openxmlformats.org/drawingml/2006/main" x="609600" y="2095500"/>
          <a:ext xmlns:a="http://schemas.openxmlformats.org/drawingml/2006/main" cx="10972800" cy="2695575"/>
        </p:xfrm>
        <a:graphic xmlns:a="http://schemas.openxmlformats.org/drawingml/2006/main">
          <a:graphicData uri="http://schemas.openxmlformats.org/drawingml/2006/table">
            <a:tbl>
              <a:tblPr/>
              <a:tblGrid>
                <a:gridCol w="5143500"/>
                <a:gridCol w="2324100"/>
                <a:gridCol w="2133600"/>
                <a:gridCol w="1371600"/>
              </a:tblGrid>
              <a:tr h="449263">
                <a:tc>
                  <a:txBody>
                    <a:bodyPr/>
                    <a:lstStyle/>
                    <a:p>
                      <a:r>
                        <a:rPr sz="1575" b="1">
                          <a:solidFill>
                            <a:srgbClr val="F5F3E9"/>
                          </a:solidFill>
                          <a:latin typeface="Arial"/>
                          <a:ea typeface="Arial"/>
                          <a:cs typeface="Arial"/>
                        </a:rPr>
                        <a:t>Hybrid</a:t>
                      </a:r>
                    </a:p>
                  </a:txBody>
                  <a:tcPr marL="114300" marR="114300" marT="76200" marB="76200" anchor="ctr">
                    <a:solidFill>
                      <a:srgbClr val="173E2C"/>
                    </a:solidFill>
                  </a:tcPr>
                </a:tc>
                <a:tc>
                  <a:txBody>
                    <a:bodyPr/>
                    <a:lstStyle/>
                    <a:p>
                      <a:r>
                        <a:rPr sz="1575" b="1">
                          <a:solidFill>
                            <a:srgbClr val="F5F3E9"/>
                          </a:solidFill>
                          <a:latin typeface="Arial"/>
                          <a:ea typeface="Arial"/>
                          <a:cs typeface="Arial"/>
                        </a:rPr>
                        <a:t>Average percentile</a:t>
                      </a:r>
                    </a:p>
                  </a:txBody>
                  <a:tcPr marL="114300" marR="114300" marT="76200" marB="76200" anchor="ctr">
                    <a:solidFill>
                      <a:srgbClr val="173E2C"/>
                    </a:solidFill>
                  </a:tcPr>
                </a:tc>
                <a:tc>
                  <a:txBody>
                    <a:bodyPr/>
                    <a:lstStyle/>
                    <a:p>
                      <a:r>
                        <a:rPr sz="1575" b="1">
                          <a:solidFill>
                            <a:srgbClr val="F5F3E9"/>
                          </a:solidFill>
                          <a:latin typeface="Arial"/>
                          <a:ea typeface="Arial"/>
                          <a:cs typeface="Arial"/>
                        </a:rPr>
                        <a:t>Weakest site</a:t>
                      </a:r>
                    </a:p>
                  </a:txBody>
                  <a:tcPr marL="114300" marR="114300" marT="76200" marB="76200" anchor="ctr">
                    <a:solidFill>
                      <a:srgbClr val="173E2C"/>
                    </a:solidFill>
                  </a:tcPr>
                </a:tc>
                <a:tc>
                  <a:txBody>
                    <a:bodyPr/>
                    <a:lstStyle/>
                    <a:p>
                      <a:r>
                        <a:rPr sz="1575" b="1">
                          <a:solidFill>
                            <a:srgbClr val="F5F3E9"/>
                          </a:solidFill>
                          <a:latin typeface="Arial"/>
                          <a:ea typeface="Arial"/>
                          <a:cs typeface="Arial"/>
                        </a:rPr>
                        <a:t>Plots</a:t>
                      </a:r>
                    </a:p>
                  </a:txBody>
                  <a:tcPr marL="114300" marR="114300" marT="76200" marB="76200" anchor="ctr">
                    <a:solidFill>
                      <a:srgbClr val="173E2C"/>
                    </a:solidFill>
                  </a:tcPr>
                </a:tc>
              </a:tr>
              <a:tr h="449263">
                <a:tc>
                  <a:txBody>
                    <a:bodyPr/>
                    <a:lstStyle/>
                    <a:p>
                      <a:r>
                        <a:rPr sz="1725" b="0">
                          <a:solidFill>
                            <a:srgbClr val="173E2C"/>
                          </a:solidFill>
                          <a:latin typeface="Arial"/>
                          <a:ea typeface="Arial"/>
                          <a:cs typeface="Arial"/>
                        </a:rPr>
                        <a:t>HOEGEMEYER 8065RR</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93.4</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84.3</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25</a:t>
                      </a:r>
                    </a:p>
                  </a:txBody>
                  <a:tcPr marL="114300" marR="114300" marT="76200" marB="76200" anchor="ctr">
                    <a:solidFill>
                      <a:srgbClr val="E6EDDF"/>
                    </a:solidFill>
                  </a:tcPr>
                </a:tc>
              </a:tr>
              <a:tr h="449263">
                <a:tc>
                  <a:txBody>
                    <a:bodyPr/>
                    <a:lstStyle/>
                    <a:p>
                      <a:r>
                        <a:rPr sz="1725" b="0">
                          <a:solidFill>
                            <a:srgbClr val="173E2C"/>
                          </a:solidFill>
                          <a:latin typeface="Arial"/>
                          <a:ea typeface="Arial"/>
                          <a:cs typeface="Arial"/>
                        </a:rPr>
                        <a:t>SYNGENTA NK0760-3111</a:t>
                      </a:r>
                    </a:p>
                  </a:txBody>
                  <a:tcPr marL="114300" marR="114300" marT="76200" marB="76200" anchor="ctr">
                    <a:solidFill>
                      <a:srgbClr val="F0F1E6"/>
                    </a:solidFill>
                  </a:tcPr>
                </a:tc>
                <a:tc>
                  <a:txBody>
                    <a:bodyPr/>
                    <a:lstStyle/>
                    <a:p>
                      <a:r>
                        <a:rPr sz="1725" b="0">
                          <a:solidFill>
                            <a:srgbClr val="173E2C"/>
                          </a:solidFill>
                          <a:latin typeface="Arial"/>
                          <a:ea typeface="Arial"/>
                          <a:cs typeface="Arial"/>
                        </a:rPr>
                        <a:t>87.5</a:t>
                      </a:r>
                    </a:p>
                  </a:txBody>
                  <a:tcPr marL="114300" marR="114300" marT="76200" marB="76200" anchor="ctr">
                    <a:solidFill>
                      <a:srgbClr val="F0F1E6"/>
                    </a:solidFill>
                  </a:tcPr>
                </a:tc>
                <a:tc>
                  <a:txBody>
                    <a:bodyPr/>
                    <a:lstStyle/>
                    <a:p>
                      <a:r>
                        <a:rPr sz="1725" b="0">
                          <a:solidFill>
                            <a:srgbClr val="173E2C"/>
                          </a:solidFill>
                          <a:latin typeface="Arial"/>
                          <a:ea typeface="Arial"/>
                          <a:cs typeface="Arial"/>
                        </a:rPr>
                        <a:t>74.7</a:t>
                      </a:r>
                    </a:p>
                  </a:txBody>
                  <a:tcPr marL="114300" marR="114300" marT="76200" marB="76200" anchor="ctr">
                    <a:solidFill>
                      <a:srgbClr val="F0F1E6"/>
                    </a:solidFill>
                  </a:tcPr>
                </a:tc>
                <a:tc>
                  <a:txBody>
                    <a:bodyPr/>
                    <a:lstStyle/>
                    <a:p>
                      <a:r>
                        <a:rPr sz="1725" b="0">
                          <a:solidFill>
                            <a:srgbClr val="173E2C"/>
                          </a:solidFill>
                          <a:latin typeface="Arial"/>
                          <a:ea typeface="Arial"/>
                          <a:cs typeface="Arial"/>
                        </a:rPr>
                        <a:t>64</a:t>
                      </a:r>
                    </a:p>
                  </a:txBody>
                  <a:tcPr marL="114300" marR="114300" marT="76200" marB="76200" anchor="ctr">
                    <a:solidFill>
                      <a:srgbClr val="F0F1E6"/>
                    </a:solidFill>
                  </a:tcPr>
                </a:tc>
              </a:tr>
              <a:tr h="449263">
                <a:tc>
                  <a:txBody>
                    <a:bodyPr/>
                    <a:lstStyle/>
                    <a:p>
                      <a:r>
                        <a:rPr sz="1725" b="0">
                          <a:solidFill>
                            <a:srgbClr val="173E2C"/>
                          </a:solidFill>
                          <a:latin typeface="Arial"/>
                          <a:ea typeface="Arial"/>
                          <a:cs typeface="Arial"/>
                        </a:rPr>
                        <a:t>HOEGEMEYER 7089 AMXT</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86.5</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67.7</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26</a:t>
                      </a:r>
                    </a:p>
                  </a:txBody>
                  <a:tcPr marL="114300" marR="114300" marT="76200" marB="76200" anchor="ctr">
                    <a:solidFill>
                      <a:srgbClr val="E6EDDF"/>
                    </a:solidFill>
                  </a:tcPr>
                </a:tc>
              </a:tr>
              <a:tr h="449263">
                <a:tc>
                  <a:txBody>
                    <a:bodyPr/>
                    <a:lstStyle/>
                    <a:p>
                      <a:r>
                        <a:rPr sz="1725" b="0">
                          <a:solidFill>
                            <a:srgbClr val="173E2C"/>
                          </a:solidFill>
                          <a:latin typeface="Arial"/>
                          <a:ea typeface="Arial"/>
                          <a:cs typeface="Arial"/>
                        </a:rPr>
                        <a:t>PIONEER P0589 AMXT</a:t>
                      </a:r>
                    </a:p>
                  </a:txBody>
                  <a:tcPr marL="114300" marR="114300" marT="76200" marB="76200" anchor="ctr">
                    <a:solidFill>
                      <a:srgbClr val="F0F1E6"/>
                    </a:solidFill>
                  </a:tcPr>
                </a:tc>
                <a:tc>
                  <a:txBody>
                    <a:bodyPr/>
                    <a:lstStyle/>
                    <a:p>
                      <a:r>
                        <a:rPr sz="1725" b="0">
                          <a:solidFill>
                            <a:srgbClr val="173E2C"/>
                          </a:solidFill>
                          <a:latin typeface="Arial"/>
                          <a:ea typeface="Arial"/>
                          <a:cs typeface="Arial"/>
                        </a:rPr>
                        <a:t>85.0</a:t>
                      </a:r>
                    </a:p>
                  </a:txBody>
                  <a:tcPr marL="114300" marR="114300" marT="76200" marB="76200" anchor="ctr">
                    <a:solidFill>
                      <a:srgbClr val="F0F1E6"/>
                    </a:solidFill>
                  </a:tcPr>
                </a:tc>
                <a:tc>
                  <a:txBody>
                    <a:bodyPr/>
                    <a:lstStyle/>
                    <a:p>
                      <a:r>
                        <a:rPr sz="1725" b="0">
                          <a:solidFill>
                            <a:srgbClr val="173E2C"/>
                          </a:solidFill>
                          <a:latin typeface="Arial"/>
                          <a:ea typeface="Arial"/>
                          <a:cs typeface="Arial"/>
                        </a:rPr>
                        <a:t>67.5</a:t>
                      </a:r>
                    </a:p>
                  </a:txBody>
                  <a:tcPr marL="114300" marR="114300" marT="76200" marB="76200" anchor="ctr">
                    <a:solidFill>
                      <a:srgbClr val="F0F1E6"/>
                    </a:solidFill>
                  </a:tcPr>
                </a:tc>
                <a:tc>
                  <a:txBody>
                    <a:bodyPr/>
                    <a:lstStyle/>
                    <a:p>
                      <a:r>
                        <a:rPr sz="1725" b="0">
                          <a:solidFill>
                            <a:srgbClr val="173E2C"/>
                          </a:solidFill>
                          <a:latin typeface="Arial"/>
                          <a:ea typeface="Arial"/>
                          <a:cs typeface="Arial"/>
                        </a:rPr>
                        <a:t>26</a:t>
                      </a:r>
                    </a:p>
                  </a:txBody>
                  <a:tcPr marL="114300" marR="114300" marT="76200" marB="76200" anchor="ctr">
                    <a:solidFill>
                      <a:srgbClr val="F0F1E6"/>
                    </a:solidFill>
                  </a:tcPr>
                </a:tc>
              </a:tr>
              <a:tr h="449263">
                <a:tc>
                  <a:txBody>
                    <a:bodyPr/>
                    <a:lstStyle/>
                    <a:p>
                      <a:r>
                        <a:rPr sz="1725" b="0">
                          <a:solidFill>
                            <a:srgbClr val="173E2C"/>
                          </a:solidFill>
                          <a:latin typeface="Arial"/>
                          <a:ea typeface="Arial"/>
                          <a:cs typeface="Arial"/>
                        </a:rPr>
                        <a:t>PHW52 X PHN82</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81.7</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58.9</a:t>
                      </a:r>
                    </a:p>
                  </a:txBody>
                  <a:tcPr marL="114300" marR="114300" marT="76200" marB="76200" anchor="ctr">
                    <a:solidFill>
                      <a:srgbClr val="E6EDDF"/>
                    </a:solidFill>
                  </a:tcPr>
                </a:tc>
                <a:tc>
                  <a:txBody>
                    <a:bodyPr/>
                    <a:lstStyle/>
                    <a:p>
                      <a:r>
                        <a:rPr sz="1725" b="0">
                          <a:solidFill>
                            <a:srgbClr val="173E2C"/>
                          </a:solidFill>
                          <a:latin typeface="Arial"/>
                          <a:ea typeface="Arial"/>
                          <a:cs typeface="Arial"/>
                        </a:rPr>
                        <a:t>26</a:t>
                      </a:r>
                    </a:p>
                  </a:txBody>
                  <a:tcPr marL="114300" marR="114300" marT="76200" marB="76200" anchor="ctr">
                    <a:solidFill>
                      <a:srgbClr val="E6EDDF"/>
                    </a:solidFill>
                  </a:tcPr>
                </a:tc>
              </a:tr>
            </a:tbl>
          </a:graphicData>
        </a:graphic>
      </p:graphicFrame>
      <p:sp>
        <p:nvSpPr>
          <p:cNvPr id="4" name="">
            <a:extLst xmlns:a="http://schemas.openxmlformats.org/drawingml/2006/main">
              <a:ext uri="{FF2B5EF4-FFF2-40B4-BE49-F238E27FC236}">
                <a16:creationId xmlns:a16="http://schemas.microsoft.com/office/drawing/2014/main" id="{2663382D-D76E-4055-8F60-736914E8C70C}"/>
              </a:ext>
            </a:extLst>
          </p:cNvPr>
          <p:cNvSpPr>
            <a:spLocks xmlns:a="http://schemas.openxmlformats.org/drawingml/2006/main" noGrp="1"/>
          </p:cNvSpPr>
          <p:nvPr/>
        </p:nvSpPr>
        <p:spPr>
          <a:xfrm xmlns:a="http://schemas.openxmlformats.org/drawingml/2006/main">
            <a:off x="609600" y="5038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rPr>
              <a:t>Nitrogen response varies by site</a:t>
            </a:r>
          </a:p>
        </p:txBody>
      </p:sp>
      <p:sp>
        <p:nvSpPr>
          <p:cNvPr id="5" name="">
            <a:extLst xmlns:a="http://schemas.openxmlformats.org/drawingml/2006/main">
              <a:ext uri="{FF2B5EF4-FFF2-40B4-BE49-F238E27FC236}">
                <a16:creationId xmlns:a16="http://schemas.microsoft.com/office/drawing/2014/main" id="{10524DB5-9CA2-4421-8492-1F88F178592B}"/>
              </a:ext>
            </a:extLst>
          </p:cNvPr>
          <p:cNvSpPr>
            <a:spLocks xmlns:a="http://schemas.openxmlformats.org/drawingml/2006/main" noGrp="1"/>
          </p:cNvSpPr>
          <p:nvPr/>
        </p:nvSpPr>
        <p:spPr>
          <a:xfrm xmlns:a="http://schemas.openxmlformats.org/drawingml/2006/main">
            <a:off x="609600" y="55340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173E2C"/>
                </a:solidFill>
                <a:latin typeface="Arial"/>
                <a:ea typeface="Arial"/>
                <a:cs typeface="Arial"/>
              </a:defRPr>
            </a:pPr>
            <a:r>
              <a:rPr sz="1575" b="0">
                <a:solidFill>
                  <a:srgbClr val="173E2C"/>
                </a:solidFill>
                <a:latin typeface="Arial"/>
                <a:ea typeface="Arial"/>
                <a:cs typeface="Arial"/>
              </a:rPr>
              <a:t>150 − 75 lb N/ac: Ames −23.6  |  Crawfordsville +15.4  |  Lincoln +10.9  |  Scottsbluff +29.2 bu/ac</a:t>
            </a:r>
          </a:p>
        </p:txBody>
      </p:sp>
      <p:sp>
        <p:nvSpPr>
          <p:cNvPr id="6" name="">
            <a:extLst xmlns:a="http://schemas.openxmlformats.org/drawingml/2006/main">
              <a:ext uri="{FF2B5EF4-FFF2-40B4-BE49-F238E27FC236}">
                <a16:creationId xmlns:a16="http://schemas.microsoft.com/office/drawing/2014/main" id="{03E0D97F-DED4-40F6-8022-39FBBD18A0EE}"/>
              </a:ext>
            </a:extLst>
          </p:cNvPr>
          <p:cNvSpPr>
            <a:spLocks xmlns:a="http://schemas.openxmlformats.org/drawingml/2006/main" noGrp="1"/>
          </p:cNvSpPr>
          <p:nvPr/>
        </p:nvSpPr>
        <p:spPr>
          <a:xfrm xmlns:a="http://schemas.openxmlformats.org/drawingml/2006/main">
            <a:off x="609600" y="62293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56358"/>
                </a:solidFill>
                <a:latin typeface="Arial"/>
                <a:ea typeface="Arial"/>
                <a:cs typeface="Arial"/>
              </a:defRPr>
            </a:pPr>
            <a:r>
              <a:rPr sz="1275" b="0">
                <a:solidFill>
                  <a:srgbClr val="556358"/>
                </a:solidFill>
                <a:latin typeface="Arial"/>
                <a:ea typeface="Arial"/>
                <a:cs typeface="Arial"/>
              </a:rPr>
              <a:t>Sites equally weighted. Some cells have one replicate. N contrasts match 84 hybrids/site; descriptive, not fertilizer advice.</a:t>
            </a:r>
          </a:p>
        </p:txBody>
      </p:sp>
    </p:spTree>
    <p:extLst>
      <p:ext uri="{BB962C8B-B14F-4D97-AF65-F5344CB8AC3E}">
        <p14:creationId xmlns:p14="http://schemas.microsoft.com/office/powerpoint/2010/main" val="917881724"/>
      </p:ext>
    </p:extLst>
  </p:cSld>
</p:sld>
</file>

<file path=ppt/slides/slide5.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A0DBCC-0D81-4B1D-AB1F-ABEBC80CBAB8}"/>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73E2C"/>
                </a:solidFill>
                <a:latin typeface="Arial"/>
                <a:ea typeface="Arial"/>
                <a:cs typeface="Arial"/>
              </a:defRPr>
            </a:pPr>
            <a:r>
              <a:rPr sz="3300" b="1">
                <a:solidFill>
                  <a:srgbClr val="173E2C"/>
                </a:solidFill>
                <a:latin typeface="Arial"/>
                <a:ea typeface="Arial"/>
                <a:cs typeface="Arial"/>
              </a:rPr>
              <a:t>Prioritize the next trials. Validate the next season.</a:t>
            </a:r>
          </a:p>
        </p:txBody>
      </p:sp>
      <p:sp>
        <p:nvSpPr>
          <p:cNvPr id="2" name="">
            <a:extLst xmlns:a="http://schemas.openxmlformats.org/drawingml/2006/main">
              <a:ext uri="{FF2B5EF4-FFF2-40B4-BE49-F238E27FC236}">
                <a16:creationId xmlns:a16="http://schemas.microsoft.com/office/drawing/2014/main" id="{BACBFAE7-F71B-45B2-91E3-A19C9193608F}"/>
              </a:ext>
            </a:extLst>
          </p:cNvPr>
          <p:cNvSpPr>
            <a:spLocks xmlns:a="http://schemas.openxmlformats.org/drawingml/2006/main" noGrp="1"/>
          </p:cNvSpPr>
          <p:nvPr/>
        </p:nvSpPr>
        <p:spPr>
          <a:xfrm xmlns:a="http://schemas.openxmlformats.org/drawingml/2006/main">
            <a:off x="609600" y="1257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56358"/>
                </a:solidFill>
                <a:latin typeface="Arial"/>
                <a:ea typeface="Arial"/>
                <a:cs typeface="Arial"/>
              </a:defRPr>
            </a:pPr>
            <a:r>
              <a:rPr sz="1800" b="0">
                <a:solidFill>
                  <a:srgbClr val="556358"/>
                </a:solidFill>
                <a:latin typeface="Arial"/>
                <a:ea typeface="Arial"/>
                <a:cs typeface="Arial"/>
              </a:rPr>
              <a:t>A usable research decision today, with a clear test before broader deployment</a:t>
            </a:r>
          </a:p>
        </p:txBody>
      </p:sp>
      <p:sp>
        <p:nvSpPr>
          <p:cNvPr id="3" name="">
            <a:extLst xmlns:a="http://schemas.openxmlformats.org/drawingml/2006/main">
              <a:ext uri="{FF2B5EF4-FFF2-40B4-BE49-F238E27FC236}">
                <a16:creationId xmlns:a16="http://schemas.microsoft.com/office/drawing/2014/main" id="{04342569-8FBD-4D95-B929-5E059D6F986A}"/>
              </a:ext>
            </a:extLst>
          </p:cNvPr>
          <p:cNvSpPr>
            <a:spLocks xmlns:a="http://schemas.openxmlformats.org/drawingml/2006/main" noGrp="1"/>
          </p:cNvSpPr>
          <p:nvPr/>
        </p:nvSpPr>
        <p:spPr>
          <a:xfrm xmlns:a="http://schemas.openxmlformats.org/drawingml/2006/main">
            <a:off x="609600" y="2209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350" b="1">
                <a:solidFill>
                  <a:srgbClr val="173E2C"/>
                </a:solidFill>
                <a:latin typeface="Arial"/>
                <a:ea typeface="Arial"/>
                <a:cs typeface="Arial"/>
              </a:defRPr>
            </a:pPr>
            <a:r>
              <a:rPr sz="4350" b="1">
                <a:solidFill>
                  <a:srgbClr val="173E2C"/>
                </a:solidFill>
                <a:latin typeface="Arial"/>
                <a:ea typeface="Arial"/>
                <a:cs typeface="Arial"/>
              </a:rPr>
              <a:t>44.0 bu/ac</a:t>
            </a:r>
          </a:p>
        </p:txBody>
      </p:sp>
      <p:sp>
        <p:nvSpPr>
          <p:cNvPr id="4" name="">
            <a:extLst xmlns:a="http://schemas.openxmlformats.org/drawingml/2006/main">
              <a:ext uri="{FF2B5EF4-FFF2-40B4-BE49-F238E27FC236}">
                <a16:creationId xmlns:a16="http://schemas.microsoft.com/office/drawing/2014/main" id="{0FBC1055-0C97-4B36-B2C8-4F976C37C4D5}"/>
              </a:ext>
            </a:extLst>
          </p:cNvPr>
          <p:cNvSpPr>
            <a:spLocks xmlns:a="http://schemas.openxmlformats.org/drawingml/2006/main" noGrp="1"/>
          </p:cNvSpPr>
          <p:nvPr/>
        </p:nvSpPr>
        <p:spPr>
          <a:xfrm xmlns:a="http://schemas.openxmlformats.org/drawingml/2006/main">
            <a:off x="647700" y="3143250"/>
            <a:ext cx="4953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73E2C"/>
                </a:solidFill>
                <a:latin typeface="Arial"/>
                <a:ea typeface="Arial"/>
                <a:cs typeface="Arial"/>
              </a:defRPr>
            </a:pPr>
            <a:r>
              <a:rPr sz="2100" b="0">
                <a:solidFill>
                  <a:srgbClr val="173E2C"/>
                </a:solidFill>
                <a:latin typeface="Arial"/>
                <a:ea typeface="Arial"/>
                <a:cs typeface="Arial"/>
              </a:rPr>
              <a:t>Day-90 CatBoost MAE</a:t>
            </a:r>
          </a:p>
          <a:p xmlns:a="http://schemas.openxmlformats.org/drawingml/2006/main">
            <a:pPr>
              <a:defRPr sz="2100" b="0">
                <a:solidFill>
                  <a:srgbClr val="173E2C"/>
                </a:solidFill>
                <a:latin typeface="Arial"/>
                <a:ea typeface="Arial"/>
                <a:cs typeface="Arial"/>
              </a:defRPr>
            </a:pPr>
            <a:r>
              <a:rPr sz="2100" b="0">
                <a:solidFill>
                  <a:srgbClr val="173E2C"/>
                </a:solidFill>
                <a:latin typeface="Arial"/>
                <a:ea typeface="Arial"/>
                <a:cs typeface="Arial"/>
              </a:rPr>
              <a:t>versus 55.1 training mean</a:t>
            </a:r>
          </a:p>
        </p:txBody>
      </p:sp>
      <p:sp>
        <p:nvSpPr>
          <p:cNvPr id="5" name="">
            <a:extLst xmlns:a="http://schemas.openxmlformats.org/drawingml/2006/main">
              <a:ext uri="{FF2B5EF4-FFF2-40B4-BE49-F238E27FC236}">
                <a16:creationId xmlns:a16="http://schemas.microsoft.com/office/drawing/2014/main" id="{29730562-2AD5-40A7-B67F-D8BCAF0304D0}"/>
              </a:ext>
            </a:extLst>
          </p:cNvPr>
          <p:cNvSpPr>
            <a:spLocks xmlns:a="http://schemas.openxmlformats.org/drawingml/2006/main" noGrp="1"/>
          </p:cNvSpPr>
          <p:nvPr/>
        </p:nvSpPr>
        <p:spPr>
          <a:xfrm xmlns:a="http://schemas.openxmlformats.org/drawingml/2006/main">
            <a:off x="6629400" y="2209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350" b="1">
                <a:solidFill>
                  <a:srgbClr val="173E2C"/>
                </a:solidFill>
                <a:latin typeface="Arial"/>
                <a:ea typeface="Arial"/>
                <a:cs typeface="Arial"/>
              </a:defRPr>
            </a:pPr>
            <a:r>
              <a:rPr sz="4350" b="1">
                <a:solidFill>
                  <a:srgbClr val="173E2C"/>
                </a:solidFill>
                <a:latin typeface="Arial"/>
                <a:ea typeface="Arial"/>
                <a:cs typeface="Arial"/>
              </a:rPr>
              <a:t>4.6 / 10</a:t>
            </a:r>
          </a:p>
        </p:txBody>
      </p:sp>
      <p:sp>
        <p:nvSpPr>
          <p:cNvPr id="6" name="">
            <a:extLst xmlns:a="http://schemas.openxmlformats.org/drawingml/2006/main">
              <a:ext uri="{FF2B5EF4-FFF2-40B4-BE49-F238E27FC236}">
                <a16:creationId xmlns:a16="http://schemas.microsoft.com/office/drawing/2014/main" id="{440F1FB6-1094-48FE-A7BC-279043060BD8}"/>
              </a:ext>
            </a:extLst>
          </p:cNvPr>
          <p:cNvSpPr>
            <a:spLocks xmlns:a="http://schemas.openxmlformats.org/drawingml/2006/main" noGrp="1"/>
          </p:cNvSpPr>
          <p:nvPr/>
        </p:nvSpPr>
        <p:spPr>
          <a:xfrm xmlns:a="http://schemas.openxmlformats.org/drawingml/2006/main">
            <a:off x="6667500" y="31432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3E2C"/>
                </a:solidFill>
                <a:latin typeface="Arial"/>
                <a:ea typeface="Arial"/>
                <a:cs typeface="Arial"/>
              </a:defRPr>
            </a:pPr>
            <a:r>
              <a:rPr sz="2025" b="0">
                <a:solidFill>
                  <a:srgbClr val="173E2C"/>
                </a:solidFill>
                <a:latin typeface="Arial"/>
                <a:ea typeface="Arial"/>
                <a:cs typeface="Arial"/>
              </a:rPr>
              <a:t>Observed top-10 hybrids recovered</a:t>
            </a:r>
          </a:p>
          <a:p xmlns:a="http://schemas.openxmlformats.org/drawingml/2006/main">
            <a:pPr>
              <a:defRPr sz="2025" b="0">
                <a:solidFill>
                  <a:srgbClr val="173E2C"/>
                </a:solidFill>
                <a:latin typeface="Arial"/>
                <a:ea typeface="Arial"/>
                <a:cs typeface="Arial"/>
              </a:defRPr>
            </a:pPr>
            <a:r>
              <a:rPr sz="2025" b="0">
                <a:solidFill>
                  <a:srgbClr val="173E2C"/>
                </a:solidFill>
                <a:latin typeface="Arial"/>
                <a:ea typeface="Arial"/>
                <a:cs typeface="Arial"/>
              </a:rPr>
              <a:t>per held-out site, on average</a:t>
            </a:r>
          </a:p>
        </p:txBody>
      </p:sp>
      <p:sp>
        <p:nvSpPr>
          <p:cNvPr id="7" name="">
            <a:extLst xmlns:a="http://schemas.openxmlformats.org/drawingml/2006/main">
              <a:ext uri="{FF2B5EF4-FFF2-40B4-BE49-F238E27FC236}">
                <a16:creationId xmlns:a16="http://schemas.microsoft.com/office/drawing/2014/main" id="{33233DB4-14CF-4055-B294-35BA2E7CBFEE}"/>
              </a:ext>
            </a:extLst>
          </p:cNvPr>
          <p:cNvSpPr>
            <a:spLocks xmlns:a="http://schemas.openxmlformats.org/drawingml/2006/main" noGrp="1"/>
          </p:cNvSpPr>
          <p:nvPr/>
        </p:nvSpPr>
        <p:spPr>
          <a:xfrm xmlns:a="http://schemas.openxmlformats.org/drawingml/2006/main">
            <a:off x="609600" y="45053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73E2C"/>
                </a:solidFill>
                <a:latin typeface="Arial"/>
                <a:ea typeface="Arial"/>
                <a:cs typeface="Arial"/>
              </a:defRPr>
            </a:pPr>
            <a:r>
              <a:rPr sz="2475" b="1">
                <a:solidFill>
                  <a:srgbClr val="173E2C"/>
                </a:solidFill>
                <a:latin typeface="Arial"/>
                <a:ea typeface="Arial"/>
                <a:cs typeface="Arial"/>
              </a:rPr>
              <a:t>Next: replicated trials of the shortlist + untouched 2023 evaluation</a:t>
            </a:r>
          </a:p>
        </p:txBody>
      </p:sp>
      <p:sp>
        <p:nvSpPr>
          <p:cNvPr id="8" name="">
            <a:extLst xmlns:a="http://schemas.openxmlformats.org/drawingml/2006/main">
              <a:ext uri="{FF2B5EF4-FFF2-40B4-BE49-F238E27FC236}">
                <a16:creationId xmlns:a16="http://schemas.microsoft.com/office/drawing/2014/main" id="{C7E4E8BF-DC22-4ABA-A4DA-8230BEBC64EA}"/>
              </a:ext>
            </a:extLst>
          </p:cNvPr>
          <p:cNvSpPr>
            <a:spLocks xmlns:a="http://schemas.openxmlformats.org/drawingml/2006/main" noGrp="1"/>
          </p:cNvSpPr>
          <p:nvPr/>
        </p:nvSpPr>
        <p:spPr>
          <a:xfrm xmlns:a="http://schemas.openxmlformats.org/drawingml/2006/main">
            <a:off x="647700" y="5400675"/>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556358"/>
                </a:solidFill>
                <a:latin typeface="Arial"/>
                <a:ea typeface="Arial"/>
                <a:cs typeface="Arial"/>
              </a:defRPr>
            </a:pPr>
            <a:r>
              <a:rPr sz="1950" b="0">
                <a:solidFill>
                  <a:srgbClr val="556358"/>
                </a:solidFill>
                <a:latin typeface="Arial"/>
                <a:ea typeface="Arial"/>
                <a:cs typeface="Arial"/>
              </a:rPr>
              <a:t>Freeze the pipeline. Record scouting outcomes. Test transfer across seasons.</a:t>
            </a:r>
          </a:p>
        </p:txBody>
      </p:sp>
      <p:sp>
        <p:nvSpPr>
          <p:cNvPr id="9" name="">
            <a:extLst xmlns:a="http://schemas.openxmlformats.org/drawingml/2006/main">
              <a:ext uri="{FF2B5EF4-FFF2-40B4-BE49-F238E27FC236}">
                <a16:creationId xmlns:a16="http://schemas.microsoft.com/office/drawing/2014/main" id="{927D6CB4-C795-41A8-80D1-22D320EEF3C7}"/>
              </a:ext>
            </a:extLst>
          </p:cNvPr>
          <p:cNvSpPr>
            <a:spLocks xmlns:a="http://schemas.openxmlformats.org/drawingml/2006/main" noGrp="1"/>
          </p:cNvSpPr>
          <p:nvPr/>
        </p:nvSpPr>
        <p:spPr>
          <a:xfrm xmlns:a="http://schemas.openxmlformats.org/drawingml/2006/main">
            <a:off x="609600" y="62293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56358"/>
                </a:solidFill>
                <a:latin typeface="Arial"/>
                <a:ea typeface="Arial"/>
                <a:cs typeface="Arial"/>
              </a:defRPr>
            </a:pPr>
            <a:r>
              <a:rPr sz="1275" b="0">
                <a:solidFill>
                  <a:srgbClr val="556358"/>
                </a:solidFill>
                <a:latin typeface="Arial"/>
                <a:ea typeface="Arial"/>
                <a:cs typeface="Arial"/>
              </a:rPr>
              <a:t>2022 spatial transfer only. Exploratory Ridge: 39.4 bu/ac MAE, 5.0/10 overlap. Site bias and ranking failures remain.</a:t>
            </a:r>
          </a:p>
        </p:txBody>
      </p:sp>
    </p:spTree>
    <p:extLst>
      <p:ext uri="{BB962C8B-B14F-4D97-AF65-F5344CB8AC3E}">
        <p14:creationId xmlns:p14="http://schemas.microsoft.com/office/powerpoint/2010/main" val="1165189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2026-09-26T17:16:46.9650000Z</dcterms:created>
  <dcterms:modified xsi:type="dcterms:W3CDTF">2026-09-26T17:16:46.9650000Z</dcterms:modified>
</coreProperties>
</file>